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a108de567664c0a" /><Relationship Type="http://schemas.openxmlformats.org/officeDocument/2006/relationships/extended-properties" Target="/docProps/app.xml" Id="R66ff65d801c94154" /><Relationship Type="http://schemas.openxmlformats.org/officeDocument/2006/relationships/officeDocument" Target="/ppt/presentation.xml" Id="R65d35c029afe42de" /></Relationships>
</file>

<file path=ppt/presentation.xml><?xml version="1.0" encoding="utf-8"?>
<p:presentation xmlns:p="http://schemas.openxmlformats.org/presentationml/2006/main">
  <p:sldMasterIdLst>
    <p:sldMasterId xmlns:r="http://schemas.openxmlformats.org/officeDocument/2006/relationships" id="2147483648" r:id="R1a7d86ee9abb4fff"/>
  </p:sldMasterIdLst>
  <p:notesMasterIdLst>
    <p:notesMasterId xmlns:r="http://schemas.openxmlformats.org/officeDocument/2006/relationships" r:id="R1b6d30e5220647bf"/>
  </p:notesMasterIdLst>
  <p:sldIdLst>
    <p:sldId xmlns:r="http://schemas.openxmlformats.org/officeDocument/2006/relationships" id="256" r:id="Ra781a5a4e5ed4d0c"/>
    <p:sldId xmlns:r="http://schemas.openxmlformats.org/officeDocument/2006/relationships" id="257" r:id="R973b6bdd9ea54b77"/>
    <p:sldId xmlns:r="http://schemas.openxmlformats.org/officeDocument/2006/relationships" id="258" r:id="R0fd1ca00cb6c494e"/>
    <p:sldId xmlns:r="http://schemas.openxmlformats.org/officeDocument/2006/relationships" id="259" r:id="Rbef0627db65b45b8"/>
    <p:sldId xmlns:r="http://schemas.openxmlformats.org/officeDocument/2006/relationships" id="260" r:id="Rfd0b23ff4d1648f7"/>
    <p:sldId xmlns:r="http://schemas.openxmlformats.org/officeDocument/2006/relationships" id="261" r:id="R341ee8fa62204d22"/>
    <p:sldId xmlns:r="http://schemas.openxmlformats.org/officeDocument/2006/relationships" id="262" r:id="R1da49153a8294e2a"/>
    <p:sldId xmlns:r="http://schemas.openxmlformats.org/officeDocument/2006/relationships" id="263" r:id="R9b54d5fc56064b68"/>
    <p:sldId xmlns:r="http://schemas.openxmlformats.org/officeDocument/2006/relationships" id="264" r:id="R78147428fc44468e"/>
    <p:sldId xmlns:r="http://schemas.openxmlformats.org/officeDocument/2006/relationships" id="265" r:id="Ra21714161f7a424a"/>
    <p:sldId xmlns:r="http://schemas.openxmlformats.org/officeDocument/2006/relationships" id="266" r:id="Ra58f674bcb574e85"/>
    <p:sldId xmlns:r="http://schemas.openxmlformats.org/officeDocument/2006/relationships" id="267" r:id="R3701894cebe447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f1b9cf29194c9d" /><Relationship Type="http://schemas.openxmlformats.org/officeDocument/2006/relationships/slideMaster" Target="/ppt/slideMasters/slideMaster1.xml" Id="R1a7d86ee9abb4fff" /><Relationship Type="http://schemas.openxmlformats.org/officeDocument/2006/relationships/notesMaster" Target="/ppt/notesMasters/notesMaster1.xml" Id="R1b6d30e5220647bf" /><Relationship Type="http://schemas.openxmlformats.org/officeDocument/2006/relationships/presProps" Target="/ppt/presProps.xml" Id="Rb69ffc500e8c45c5" /><Relationship Type="http://schemas.openxmlformats.org/officeDocument/2006/relationships/tableStyles" Target="/ppt/tableStyles.xml" Id="R0edb759ad7664d5c" /><Relationship Type="http://schemas.openxmlformats.org/officeDocument/2006/relationships/slide" Target="/ppt/slides/slide1.xml" Id="Ra781a5a4e5ed4d0c" /><Relationship Type="http://schemas.openxmlformats.org/officeDocument/2006/relationships/slide" Target="/ppt/slides/slide2.xml" Id="R973b6bdd9ea54b77" /><Relationship Type="http://schemas.openxmlformats.org/officeDocument/2006/relationships/slide" Target="/ppt/slides/slide3.xml" Id="R0fd1ca00cb6c494e" /><Relationship Type="http://schemas.openxmlformats.org/officeDocument/2006/relationships/slide" Target="/ppt/slides/slide4.xml" Id="Rbef0627db65b45b8" /><Relationship Type="http://schemas.openxmlformats.org/officeDocument/2006/relationships/slide" Target="/ppt/slides/slide5.xml" Id="Rfd0b23ff4d1648f7" /><Relationship Type="http://schemas.openxmlformats.org/officeDocument/2006/relationships/slide" Target="/ppt/slides/slide6.xml" Id="R341ee8fa62204d22" /><Relationship Type="http://schemas.openxmlformats.org/officeDocument/2006/relationships/slide" Target="/ppt/slides/slide7.xml" Id="R1da49153a8294e2a" /><Relationship Type="http://schemas.openxmlformats.org/officeDocument/2006/relationships/slide" Target="/ppt/slides/slide8.xml" Id="R9b54d5fc56064b68" /><Relationship Type="http://schemas.openxmlformats.org/officeDocument/2006/relationships/slide" Target="/ppt/slides/slide9.xml" Id="R78147428fc44468e" /><Relationship Type="http://schemas.openxmlformats.org/officeDocument/2006/relationships/slide" Target="/ppt/slides/slide10.xml" Id="Ra21714161f7a424a" /><Relationship Type="http://schemas.openxmlformats.org/officeDocument/2006/relationships/slide" Target="/ppt/slides/slide11.xml" Id="Ra58f674bcb574e85" /><Relationship Type="http://schemas.openxmlformats.org/officeDocument/2006/relationships/slide" Target="/ppt/slides/slide12.xml" Id="R3701894cebe447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6dbf5f729043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d8cac9a0864116" /><Relationship Type="http://schemas.openxmlformats.org/officeDocument/2006/relationships/notesMaster" Target="/ppt/notesMasters/notesMaster1.xml" Id="R8eaa834cdb2a4e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f445a9c2594185" /><Relationship Type="http://schemas.openxmlformats.org/officeDocument/2006/relationships/notesMaster" Target="/ppt/notesMasters/notesMaster1.xml" Id="Rfe22481889e445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9f340ce9f44d47" /><Relationship Type="http://schemas.openxmlformats.org/officeDocument/2006/relationships/notesMaster" Target="/ppt/notesMasters/notesMaster1.xml" Id="R4c7bd7babb4d40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35ab8025ee4c51" /><Relationship Type="http://schemas.openxmlformats.org/officeDocument/2006/relationships/notesMaster" Target="/ppt/notesMasters/notesMaster1.xml" Id="R6e3b66586ae140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568e16a2674051" /><Relationship Type="http://schemas.openxmlformats.org/officeDocument/2006/relationships/notesMaster" Target="/ppt/notesMasters/notesMaster1.xml" Id="R5ddda85480d24f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9ab09c785b484b" /><Relationship Type="http://schemas.openxmlformats.org/officeDocument/2006/relationships/notesMaster" Target="/ppt/notesMasters/notesMaster1.xml" Id="R4f9636352dc14c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02534767834e84" /><Relationship Type="http://schemas.openxmlformats.org/officeDocument/2006/relationships/notesMaster" Target="/ppt/notesMasters/notesMaster1.xml" Id="R0103b64252b844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2686d00d4e460f" /><Relationship Type="http://schemas.openxmlformats.org/officeDocument/2006/relationships/notesMaster" Target="/ppt/notesMasters/notesMaster1.xml" Id="Rfd75f21200ba47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98bc767c87408a" /><Relationship Type="http://schemas.openxmlformats.org/officeDocument/2006/relationships/notesMaster" Target="/ppt/notesMasters/notesMaster1.xml" Id="R190b1aa09fcd4e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94ae7e0a88422b" /><Relationship Type="http://schemas.openxmlformats.org/officeDocument/2006/relationships/notesMaster" Target="/ppt/notesMasters/notesMaster1.xml" Id="R69b075bbef7044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b5a5055bb748b1" /><Relationship Type="http://schemas.openxmlformats.org/officeDocument/2006/relationships/notesMaster" Target="/ppt/notesMasters/notesMaster1.xml" Id="Rf13cd219e47f430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b53e1678dd4708" /><Relationship Type="http://schemas.openxmlformats.org/officeDocument/2006/relationships/notesMaster" Target="/ppt/notesMasters/notesMaster1.xml" Id="R84eb8f8c88224f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implemented and evaluated a proposed architecture on our Figshare data. The motivation is to preserve image context while focusing on the tumor region and refining uncertain boundaries. This is preliminary project evidence, and the individual architectural ideas have prior art. The MRI is an actual training image from our supplied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Ahsan et al., Brain tumor detection and segmentation using deep learning, https://doi.org/10.1007/s10334-024-01203-5, local papers/brain-tumor-base.pdf, methods pp. 15-16 and limitations pp. 20-21. The authors select the highest-confidence detected box and acknowledge possible loss of tumor parts. We hypothesize that keeping whole-image context may help. We have not run a direct comparison against their full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 src/models.py. Input is MRI intensity only. Encoder widths are 16,32,64,128 at spatial sizes 128,64,32,16. A sigmoid coarse ROI map gates all three skips as S*(0.5+R). The decoder uses bilinear upsampling. The full-resolution boundary head and residual refinement operate on final decoder features. The uncertainty proxy is 4*p*(1-p), which is largest around p=0.5. Classification uses global average pooling of the deepest encoder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data/processed/manifest.json, EXPERIMENT_PROTOCOL.md, runs/main/config.json. Patients are randomly sampled within supplied folds and tumor classes. Split seed 2026. Train uses original folds 1-3, validation fold 4, test fold 5. At most 10 slices per chosen patient. All models train from scratch with identical common weights and augmentation streams per seed. The initial 20-epoch validation-only pilot motivated 60 epochs before test scoring. No skull stripping, in contrast to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runs/main/results.json and metrics.csv. Values are averages of two independent runs, not an inference ensemble. Patient Dice and IoU average slices within each patient, then average 15 patients. Boundary F1 averages slices and uses a two-pixel tolerance at 128x128. The paired bootstrap interval averages seeds within each patient, then resamples the 15 patients 10,000 times. It does not capture full seed or split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runs/main/results.json. The SoftROI comparison tests coarse supervision and gating jointly. The full model adds both a boundary objective and a residual refinement head, so this ablation does not isolate their individual effects. The seeds share the same frozen data split. All planned runs appear in this table, including any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per-epoch history.csv files under runs/main. Each line is the average validation patient Dice over seeds 17 and 29 at that epoch. Individual checkpoints are selected independently by each run's best validation score. These are validation learning curves, not test-set 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output/qualitative_selection.json, runs/main/*_seed17/test_predictions.npz, and frozen subset. Selection rule: the first test slice of each class in the manifest. These are not selected as the strongest results. Columns show MRI, ground truth in green, baseline in orange, and SRB in blue. All predictions use threshold 0.5 and seed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output/figures/failure_case.png and output/qualitative_selection.json. This example has the largest drop in SRB Dice relative to the baseline among test slices for seed 17. It is intentionally selected to expose a weakness. A higher mean score does not guarantee better segmentation for every patient or slice. This case was inspected after all training and checkpoint choices were finalized.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an implemented architecture proposal with controlled preliminary evidence and a reproducible pipeline. Global novelty has not been established. Attention U-Net and boundary-guidance networks are relevant prior art. Next work must examine more patient splits, isolate module effects, increase input resolution, and compare a faithful implementation of the source paper. This dataset contains tumor-positive scans only, so it cannot establish healthy-versus-tumor screening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runs/main/results.json. Classification is an auxiliary three-way tumor-type task, never healthy-versus-tumor detection. Classification accuracy is slice-level and checkpoint selection optimizes segmentation, not classification. Small-tumor Dice uses a cutoff equal to the median training mask area fraction. Per-class Dice averages each of five held-out patients, then averages the two training seeds.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references:</a:t>
            </a:r>
          </a:p>
          <a:p xmlns:a="http://schemas.openxmlformats.org/drawingml/2006/main">
            <a:r>
              <a:t>Ahsan et al. https://doi.org/10.1007/s10334-024-01203-5</a:t>
            </a:r>
          </a:p>
          <a:p xmlns:a="http://schemas.openxmlformats.org/drawingml/2006/main">
            <a:r>
              <a:t>Oktay et al. https://arxiv.org/abs/1804.03999</a:t>
            </a:r>
          </a:p>
          <a:p xmlns:a="http://schemas.openxmlformats.org/drawingml/2006/main">
            <a:r>
              <a:t>Xu et al. https://www.nature.com/articles/s41598-024-67554-0</a:t>
            </a:r>
          </a:p>
          <a:p xmlns:a="http://schemas.openxmlformats.org/drawingml/2006/main">
            <a:r>
              <a:t>Li et al. https://arxiv.org/abs/2203.15383</a:t>
            </a:r>
          </a:p>
          <a:p xmlns:a="http://schemas.openxmlformats.org/drawingml/2006/main">
            <a:r>
              <a:t>Local sources: EXPERIMENT_PROTOCOL.md; src/models.py; runs/main/results.json; data/processed/manifest.json. The literature search is targeted and not an exhaustive novelty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f817f66d954a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8909f31bbc438e" /><Relationship Type="http://schemas.openxmlformats.org/officeDocument/2006/relationships/slideLayout" Target="/ppt/slideLayouts/slideLayout1.xml" Id="Rf063079c1f3c48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63079c1f3c48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e2950e3ba344c0" /><Relationship Type="http://schemas.openxmlformats.org/officeDocument/2006/relationships/image" Target="/ppt/media/image.png" Id="R6d2c2eae3c8e4ab6" /><Relationship Type="http://schemas.openxmlformats.org/officeDocument/2006/relationships/notesSlide" Target="/ppt/notesSlides/notesSlide1.xml" Id="Rbfd67505412a4e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d2030d8cb04ccf" /><Relationship Type="http://schemas.openxmlformats.org/officeDocument/2006/relationships/notesSlide" Target="/ppt/notesSlides/notesSlide2.xml" Id="R64bc87ae01fe43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22b4596720483c" /><Relationship Type="http://schemas.openxmlformats.org/officeDocument/2006/relationships/notesSlide" Target="/ppt/notesSlides/notesSlide3.xml" Id="Rcef1a9921d354c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b10b221dcd4e8c" /><Relationship Type="http://schemas.openxmlformats.org/officeDocument/2006/relationships/notesSlide" Target="/ppt/notesSlides/notesSlide4.xml" Id="Ra5ca976cf80548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a1ab3791ff4930" /><Relationship Type="http://schemas.openxmlformats.org/officeDocument/2006/relationships/notesSlide" Target="/ppt/notesSlides/notesSlide5.xml" Id="Rbcaeef508c9e4c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e06eb1a5e24840" /><Relationship Type="http://schemas.openxmlformats.org/officeDocument/2006/relationships/notesSlide" Target="/ppt/notesSlides/notesSlide6.xml" Id="R70838226e4284d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78e8840be748a6" /><Relationship Type="http://schemas.openxmlformats.org/officeDocument/2006/relationships/chart" Target="/ppt/slides/charts/chart1.xml" Id="R8ce2a5a817ab4c82" /><Relationship Type="http://schemas.openxmlformats.org/officeDocument/2006/relationships/notesSlide" Target="/ppt/notesSlides/notesSlide7.xml" Id="R061e6ba6608e4c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4fc61859754388" /><Relationship Type="http://schemas.openxmlformats.org/officeDocument/2006/relationships/image" Target="/ppt/media/image2.png" Id="R5b6c557f82894c63" /><Relationship Type="http://schemas.openxmlformats.org/officeDocument/2006/relationships/image" Target="/ppt/media/image3.png" Id="R7bc8c34e1a434d65" /><Relationship Type="http://schemas.openxmlformats.org/officeDocument/2006/relationships/image" Target="/ppt/media/image4.png" Id="R036cc201a8614397" /><Relationship Type="http://schemas.openxmlformats.org/officeDocument/2006/relationships/image" Target="/ppt/media/image5.png" Id="Rb517ed6d89804e66" /><Relationship Type="http://schemas.openxmlformats.org/officeDocument/2006/relationships/image" Target="/ppt/media/image6.png" Id="R2b68213cc2934f27" /><Relationship Type="http://schemas.openxmlformats.org/officeDocument/2006/relationships/image" Target="/ppt/media/image7.png" Id="Rbc2e7a391072467b" /><Relationship Type="http://schemas.openxmlformats.org/officeDocument/2006/relationships/image" Target="/ppt/media/image8.png" Id="R148f6a5b5da24385" /><Relationship Type="http://schemas.openxmlformats.org/officeDocument/2006/relationships/image" Target="/ppt/media/image9.png" Id="R5d54e49aed434066" /><Relationship Type="http://schemas.openxmlformats.org/officeDocument/2006/relationships/image" Target="/ppt/media/image10.png" Id="R546dc1176ceb4113" /><Relationship Type="http://schemas.openxmlformats.org/officeDocument/2006/relationships/image" Target="/ppt/media/image11.png" Id="R4908ddbd0ca84434" /><Relationship Type="http://schemas.openxmlformats.org/officeDocument/2006/relationships/image" Target="/ppt/media/image12.png" Id="R410c32a55c3941e0" /><Relationship Type="http://schemas.openxmlformats.org/officeDocument/2006/relationships/image" Target="/ppt/media/image13.png" Id="Rab5031434e154141" /><Relationship Type="http://schemas.openxmlformats.org/officeDocument/2006/relationships/notesSlide" Target="/ppt/notesSlides/notesSlide8.xml" Id="Rdec2b067693349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6b83dd0aba4c32" /><Relationship Type="http://schemas.openxmlformats.org/officeDocument/2006/relationships/image" Target="/ppt/media/image14.png" Id="R55c48d353cc04d1d" /><Relationship Type="http://schemas.openxmlformats.org/officeDocument/2006/relationships/notesSlide" Target="/ppt/notesSlides/notesSlide9.xml" Id="R5c652479b55443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e9b5764c15d4a85" /><Relationship Type="http://schemas.openxmlformats.org/officeDocument/2006/relationships/notesSlide" Target="/ppt/notesSlides/notesSlide10.xml" Id="R9a23d3e7abfd45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1e614054a6a47ee" /><Relationship Type="http://schemas.openxmlformats.org/officeDocument/2006/relationships/notesSlide" Target="/ppt/notesSlides/notesSlide11.xml" Id="R28a39e58f65944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34573c2dd34b65" /><Relationship Type="http://schemas.openxmlformats.org/officeDocument/2006/relationships/notesSlide" Target="/ppt/notesSlides/notesSlide12.xml" Id="Re6eec7180c7b4a0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Compact U-Net</c:v>
          </c:tx>
          <c:spPr>
            <a:ln xmlns:a="http://schemas.openxmlformats.org/drawingml/2006/main" w="28575">
              <a:solidFill>
                <a:srgbClr val="718096"/>
              </a:solidFill>
            </a:ln>
          </c:spPr>
          <c:marker>
            <c:symbol val="none"/>
          </c:marker>
          <c:cat>
            <c:numRef>
              <c:f>'Chart Data'!$A$2:$A$61</c:f>
              <c:numCache>
                <c:formatCode>General</c:formatCode>
                <c:ptCount val="6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numCache>
            </c:numRef>
          </c:cat>
          <c:val>
            <c:numRef>
              <c:f>'Chart Data'!$B$2:$B$61</c:f>
              <c:numCache>
                <c:formatCode>0</c:formatCode>
                <c:ptCount val="60"/>
                <c:pt idx="0">
                  <c:v>4.5644</c:v>
                </c:pt>
                <c:pt idx="1">
                  <c:v>5.4606</c:v>
                </c:pt>
                <c:pt idx="2">
                  <c:v>15.1131</c:v>
                </c:pt>
                <c:pt idx="3">
                  <c:v>17.8458</c:v>
                </c:pt>
                <c:pt idx="4">
                  <c:v>22.2673</c:v>
                </c:pt>
                <c:pt idx="5">
                  <c:v>26.1746</c:v>
                </c:pt>
                <c:pt idx="6">
                  <c:v>29.2456</c:v>
                </c:pt>
                <c:pt idx="7">
                  <c:v>32.7468</c:v>
                </c:pt>
                <c:pt idx="8">
                  <c:v>33.9934</c:v>
                </c:pt>
                <c:pt idx="9">
                  <c:v>35.754</c:v>
                </c:pt>
                <c:pt idx="10">
                  <c:v>36.9695</c:v>
                </c:pt>
                <c:pt idx="11">
                  <c:v>43.6678</c:v>
                </c:pt>
                <c:pt idx="12">
                  <c:v>39.8132</c:v>
                </c:pt>
                <c:pt idx="13">
                  <c:v>49.8263</c:v>
                </c:pt>
                <c:pt idx="14">
                  <c:v>50.0762</c:v>
                </c:pt>
                <c:pt idx="15">
                  <c:v>49.9323</c:v>
                </c:pt>
                <c:pt idx="16">
                  <c:v>53.8487</c:v>
                </c:pt>
                <c:pt idx="17">
                  <c:v>54.4206</c:v>
                </c:pt>
                <c:pt idx="18">
                  <c:v>52.4827</c:v>
                </c:pt>
                <c:pt idx="19">
                  <c:v>55.8412</c:v>
                </c:pt>
                <c:pt idx="20">
                  <c:v>54.7902</c:v>
                </c:pt>
                <c:pt idx="21">
                  <c:v>55.665</c:v>
                </c:pt>
                <c:pt idx="22">
                  <c:v>56.6215</c:v>
                </c:pt>
                <c:pt idx="23">
                  <c:v>56.9353</c:v>
                </c:pt>
                <c:pt idx="24">
                  <c:v>59.6559</c:v>
                </c:pt>
                <c:pt idx="25">
                  <c:v>57.0562</c:v>
                </c:pt>
                <c:pt idx="26">
                  <c:v>57.8279</c:v>
                </c:pt>
                <c:pt idx="27">
                  <c:v>61.7279</c:v>
                </c:pt>
                <c:pt idx="28">
                  <c:v>59.356</c:v>
                </c:pt>
                <c:pt idx="29">
                  <c:v>58.414</c:v>
                </c:pt>
                <c:pt idx="30">
                  <c:v>60.576</c:v>
                </c:pt>
                <c:pt idx="31">
                  <c:v>61.6219</c:v>
                </c:pt>
                <c:pt idx="32">
                  <c:v>60.3647</c:v>
                </c:pt>
                <c:pt idx="33">
                  <c:v>59.3145</c:v>
                </c:pt>
                <c:pt idx="34">
                  <c:v>62.7592</c:v>
                </c:pt>
                <c:pt idx="35">
                  <c:v>61.7823</c:v>
                </c:pt>
                <c:pt idx="36">
                  <c:v>59.0624</c:v>
                </c:pt>
                <c:pt idx="37">
                  <c:v>59.9545</c:v>
                </c:pt>
                <c:pt idx="38">
                  <c:v>61.2585</c:v>
                </c:pt>
                <c:pt idx="39">
                  <c:v>63.7732</c:v>
                </c:pt>
                <c:pt idx="40">
                  <c:v>61.6579</c:v>
                </c:pt>
                <c:pt idx="41">
                  <c:v>60.8523</c:v>
                </c:pt>
                <c:pt idx="42">
                  <c:v>62.3001</c:v>
                </c:pt>
                <c:pt idx="43">
                  <c:v>62.3098</c:v>
                </c:pt>
                <c:pt idx="44">
                  <c:v>62.6387</c:v>
                </c:pt>
                <c:pt idx="45">
                  <c:v>63.0877</c:v>
                </c:pt>
                <c:pt idx="46">
                  <c:v>62.1006</c:v>
                </c:pt>
                <c:pt idx="47">
                  <c:v>63.5236</c:v>
                </c:pt>
                <c:pt idx="48">
                  <c:v>63.9542</c:v>
                </c:pt>
                <c:pt idx="49">
                  <c:v>62.4074</c:v>
                </c:pt>
                <c:pt idx="50">
                  <c:v>61.7883</c:v>
                </c:pt>
                <c:pt idx="51">
                  <c:v>61.9101</c:v>
                </c:pt>
                <c:pt idx="52">
                  <c:v>63.7682</c:v>
                </c:pt>
                <c:pt idx="53">
                  <c:v>62.8406</c:v>
                </c:pt>
                <c:pt idx="54">
                  <c:v>63.3273</c:v>
                </c:pt>
                <c:pt idx="55">
                  <c:v>63.5466</c:v>
                </c:pt>
                <c:pt idx="56">
                  <c:v>63.1588</c:v>
                </c:pt>
                <c:pt idx="57">
                  <c:v>62.9711</c:v>
                </c:pt>
                <c:pt idx="58">
                  <c:v>63.4713</c:v>
                </c:pt>
                <c:pt idx="59">
                  <c:v>63.5129</c:v>
                </c:pt>
              </c:numCache>
            </c:numRef>
          </c:val>
        </c:ser>
        <c:ser>
          <c:idx val="1"/>
          <c:order val="1"/>
          <c:tx>
            <c:v>SoftROI</c:v>
          </c:tx>
          <c:spPr>
            <a:ln xmlns:a="http://schemas.openxmlformats.org/drawingml/2006/main" w="28575">
              <a:solidFill>
                <a:srgbClr val="E7A341"/>
              </a:solidFill>
            </a:ln>
          </c:spPr>
          <c:marker>
            <c:symbol val="none"/>
          </c:marker>
          <c:cat>
            <c:numRef>
              <c:f>'Chart Data'!$C$2:$C$61</c:f>
              <c:numCache>
                <c:formatCode>General</c:formatCode>
                <c:ptCount val="6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numCache>
            </c:numRef>
          </c:cat>
          <c:val>
            <c:numRef>
              <c:f>'Chart Data'!$D$2:$D$61</c:f>
              <c:numCache>
                <c:formatCode>0</c:formatCode>
                <c:ptCount val="60"/>
                <c:pt idx="0">
                  <c:v>4.7647</c:v>
                </c:pt>
                <c:pt idx="1">
                  <c:v>8.8855</c:v>
                </c:pt>
                <c:pt idx="2">
                  <c:v>16.0296</c:v>
                </c:pt>
                <c:pt idx="3">
                  <c:v>17.8966</c:v>
                </c:pt>
                <c:pt idx="4">
                  <c:v>26.9122</c:v>
                </c:pt>
                <c:pt idx="5">
                  <c:v>23.6681</c:v>
                </c:pt>
                <c:pt idx="6">
                  <c:v>32.5381</c:v>
                </c:pt>
                <c:pt idx="7">
                  <c:v>33.8083</c:v>
                </c:pt>
                <c:pt idx="8">
                  <c:v>41.2819</c:v>
                </c:pt>
                <c:pt idx="9">
                  <c:v>39.5761</c:v>
                </c:pt>
                <c:pt idx="10">
                  <c:v>46.3401</c:v>
                </c:pt>
                <c:pt idx="11">
                  <c:v>50.1252</c:v>
                </c:pt>
                <c:pt idx="12">
                  <c:v>52.5738</c:v>
                </c:pt>
                <c:pt idx="13">
                  <c:v>53.002</c:v>
                </c:pt>
                <c:pt idx="14">
                  <c:v>55.9353</c:v>
                </c:pt>
                <c:pt idx="15">
                  <c:v>56.1138</c:v>
                </c:pt>
                <c:pt idx="16">
                  <c:v>57.9511</c:v>
                </c:pt>
                <c:pt idx="17">
                  <c:v>56.3408</c:v>
                </c:pt>
                <c:pt idx="18">
                  <c:v>59.8022</c:v>
                </c:pt>
                <c:pt idx="19">
                  <c:v>59.0186</c:v>
                </c:pt>
                <c:pt idx="20">
                  <c:v>58.4368</c:v>
                </c:pt>
                <c:pt idx="21">
                  <c:v>62.6176</c:v>
                </c:pt>
                <c:pt idx="22">
                  <c:v>60.7015</c:v>
                </c:pt>
                <c:pt idx="23">
                  <c:v>59.8783</c:v>
                </c:pt>
                <c:pt idx="24">
                  <c:v>63.5749</c:v>
                </c:pt>
                <c:pt idx="25">
                  <c:v>62.3921</c:v>
                </c:pt>
                <c:pt idx="26">
                  <c:v>59.8227</c:v>
                </c:pt>
                <c:pt idx="27">
                  <c:v>63.4739</c:v>
                </c:pt>
                <c:pt idx="28">
                  <c:v>64.4451</c:v>
                </c:pt>
                <c:pt idx="29">
                  <c:v>62.3121</c:v>
                </c:pt>
                <c:pt idx="30">
                  <c:v>61.9553</c:v>
                </c:pt>
                <c:pt idx="31">
                  <c:v>62.8884</c:v>
                </c:pt>
                <c:pt idx="32">
                  <c:v>63.6728</c:v>
                </c:pt>
                <c:pt idx="33">
                  <c:v>65.5237</c:v>
                </c:pt>
                <c:pt idx="34">
                  <c:v>64.8569</c:v>
                </c:pt>
                <c:pt idx="35">
                  <c:v>65.302</c:v>
                </c:pt>
                <c:pt idx="36">
                  <c:v>62.6274</c:v>
                </c:pt>
                <c:pt idx="37">
                  <c:v>60.5035</c:v>
                </c:pt>
                <c:pt idx="38">
                  <c:v>62.1831</c:v>
                </c:pt>
                <c:pt idx="39">
                  <c:v>64.1169</c:v>
                </c:pt>
                <c:pt idx="40">
                  <c:v>63.7428</c:v>
                </c:pt>
                <c:pt idx="41">
                  <c:v>64.3296</c:v>
                </c:pt>
                <c:pt idx="42">
                  <c:v>65.4267</c:v>
                </c:pt>
                <c:pt idx="43">
                  <c:v>65.2125</c:v>
                </c:pt>
                <c:pt idx="44">
                  <c:v>64.766</c:v>
                </c:pt>
                <c:pt idx="45">
                  <c:v>65.7033</c:v>
                </c:pt>
                <c:pt idx="46">
                  <c:v>65.1527</c:v>
                </c:pt>
                <c:pt idx="47">
                  <c:v>64.1367</c:v>
                </c:pt>
                <c:pt idx="48">
                  <c:v>64.6073</c:v>
                </c:pt>
                <c:pt idx="49">
                  <c:v>65.2944</c:v>
                </c:pt>
                <c:pt idx="50">
                  <c:v>65.3139</c:v>
                </c:pt>
                <c:pt idx="51">
                  <c:v>64.8373</c:v>
                </c:pt>
                <c:pt idx="52">
                  <c:v>64.2418</c:v>
                </c:pt>
                <c:pt idx="53">
                  <c:v>63.8223</c:v>
                </c:pt>
                <c:pt idx="54">
                  <c:v>64.0169</c:v>
                </c:pt>
                <c:pt idx="55">
                  <c:v>64.6702</c:v>
                </c:pt>
                <c:pt idx="56">
                  <c:v>64.2311</c:v>
                </c:pt>
                <c:pt idx="57">
                  <c:v>63.6699</c:v>
                </c:pt>
                <c:pt idx="58">
                  <c:v>65.3261</c:v>
                </c:pt>
                <c:pt idx="59">
                  <c:v>63.9206</c:v>
                </c:pt>
              </c:numCache>
            </c:numRef>
          </c:val>
        </c:ser>
        <c:ser>
          <c:idx val="2"/>
          <c:order val="2"/>
          <c:tx>
            <c:v>SRB-U-Net</c:v>
          </c:tx>
          <c:spPr>
            <a:ln xmlns:a="http://schemas.openxmlformats.org/drawingml/2006/main" w="28575">
              <a:solidFill>
                <a:srgbClr val="008879"/>
              </a:solidFill>
            </a:ln>
          </c:spPr>
          <c:marker>
            <c:symbol val="none"/>
          </c:marker>
          <c:cat>
            <c:numRef>
              <c:f>'Chart Data'!$E$2:$E$61</c:f>
              <c:numCache>
                <c:formatCode>General</c:formatCode>
                <c:ptCount val="6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numCache>
            </c:numRef>
          </c:cat>
          <c:val>
            <c:numRef>
              <c:f>'Chart Data'!$F$2:$F$61</c:f>
              <c:numCache>
                <c:formatCode>0</c:formatCode>
                <c:ptCount val="60"/>
                <c:pt idx="0">
                  <c:v>4.2572</c:v>
                </c:pt>
                <c:pt idx="1">
                  <c:v>11.4888</c:v>
                </c:pt>
                <c:pt idx="2">
                  <c:v>20.1118</c:v>
                </c:pt>
                <c:pt idx="3">
                  <c:v>27.0188</c:v>
                </c:pt>
                <c:pt idx="4">
                  <c:v>33.415</c:v>
                </c:pt>
                <c:pt idx="5">
                  <c:v>40.2626</c:v>
                </c:pt>
                <c:pt idx="6">
                  <c:v>46.0961</c:v>
                </c:pt>
                <c:pt idx="7">
                  <c:v>47.9824</c:v>
                </c:pt>
                <c:pt idx="8">
                  <c:v>48.7323</c:v>
                </c:pt>
                <c:pt idx="9">
                  <c:v>48.9182</c:v>
                </c:pt>
                <c:pt idx="10">
                  <c:v>51.5171</c:v>
                </c:pt>
                <c:pt idx="11">
                  <c:v>54.7127</c:v>
                </c:pt>
                <c:pt idx="12">
                  <c:v>54.9439</c:v>
                </c:pt>
                <c:pt idx="13">
                  <c:v>57.2071</c:v>
                </c:pt>
                <c:pt idx="14">
                  <c:v>56.4315</c:v>
                </c:pt>
                <c:pt idx="15">
                  <c:v>58.2343</c:v>
                </c:pt>
                <c:pt idx="16">
                  <c:v>59.2631</c:v>
                </c:pt>
                <c:pt idx="17">
                  <c:v>55.8569</c:v>
                </c:pt>
                <c:pt idx="18">
                  <c:v>58.761</c:v>
                </c:pt>
                <c:pt idx="19">
                  <c:v>60.9231</c:v>
                </c:pt>
                <c:pt idx="20">
                  <c:v>59.0577</c:v>
                </c:pt>
                <c:pt idx="21">
                  <c:v>59.5106</c:v>
                </c:pt>
                <c:pt idx="22">
                  <c:v>61.3861</c:v>
                </c:pt>
                <c:pt idx="23">
                  <c:v>59.7095</c:v>
                </c:pt>
                <c:pt idx="24">
                  <c:v>63.6465</c:v>
                </c:pt>
                <c:pt idx="25">
                  <c:v>63.3893</c:v>
                </c:pt>
                <c:pt idx="26">
                  <c:v>61.1669</c:v>
                </c:pt>
                <c:pt idx="27">
                  <c:v>63.948</c:v>
                </c:pt>
                <c:pt idx="28">
                  <c:v>65.0072</c:v>
                </c:pt>
                <c:pt idx="29">
                  <c:v>62.9241</c:v>
                </c:pt>
                <c:pt idx="30">
                  <c:v>62.3729</c:v>
                </c:pt>
                <c:pt idx="31">
                  <c:v>63.1504</c:v>
                </c:pt>
                <c:pt idx="32">
                  <c:v>64.9766</c:v>
                </c:pt>
                <c:pt idx="33">
                  <c:v>65.6163</c:v>
                </c:pt>
                <c:pt idx="34">
                  <c:v>65.8825</c:v>
                </c:pt>
                <c:pt idx="35">
                  <c:v>65.699</c:v>
                </c:pt>
                <c:pt idx="36">
                  <c:v>65.9226</c:v>
                </c:pt>
                <c:pt idx="37">
                  <c:v>64.2966</c:v>
                </c:pt>
                <c:pt idx="38">
                  <c:v>64.9607</c:v>
                </c:pt>
                <c:pt idx="39">
                  <c:v>66.0385</c:v>
                </c:pt>
                <c:pt idx="40">
                  <c:v>66.7979</c:v>
                </c:pt>
                <c:pt idx="41">
                  <c:v>64.929</c:v>
                </c:pt>
                <c:pt idx="42">
                  <c:v>66.0496</c:v>
                </c:pt>
                <c:pt idx="43">
                  <c:v>66.47</c:v>
                </c:pt>
                <c:pt idx="44">
                  <c:v>66.227</c:v>
                </c:pt>
                <c:pt idx="45">
                  <c:v>65.0184</c:v>
                </c:pt>
                <c:pt idx="46">
                  <c:v>66.9577</c:v>
                </c:pt>
                <c:pt idx="47">
                  <c:v>67.4002</c:v>
                </c:pt>
                <c:pt idx="48">
                  <c:v>67.6571</c:v>
                </c:pt>
                <c:pt idx="49">
                  <c:v>66.4672</c:v>
                </c:pt>
                <c:pt idx="50">
                  <c:v>65.5383</c:v>
                </c:pt>
                <c:pt idx="51">
                  <c:v>66.6589</c:v>
                </c:pt>
                <c:pt idx="52">
                  <c:v>66.9512</c:v>
                </c:pt>
                <c:pt idx="53">
                  <c:v>67.3717</c:v>
                </c:pt>
                <c:pt idx="54">
                  <c:v>67.0928</c:v>
                </c:pt>
                <c:pt idx="55">
                  <c:v>67.3006</c:v>
                </c:pt>
                <c:pt idx="56">
                  <c:v>66.1935</c:v>
                </c:pt>
                <c:pt idx="57">
                  <c:v>68.1998</c:v>
                </c:pt>
                <c:pt idx="58">
                  <c:v>67.1502</c:v>
                </c:pt>
                <c:pt idx="59">
                  <c:v>66.7554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Epoch</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72768"/>
      </c:catAx>
      <c:valAx>
        <c:axId val="48672768"/>
        <c:scaling>
          <c:orientation val="minMax"/>
          <c:max val="100"/>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Validation patient Dice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A3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FCB365-C3F4-4580-B639-2033A4FCE34B}"/>
              </a:ext>
            </a:extLst>
          </p:cNvPr>
          <p:cNvSpPr>
            <a:spLocks xmlns:a="http://schemas.openxmlformats.org/drawingml/2006/main" noGrp="1"/>
          </p:cNvSpPr>
          <p:nvPr/>
        </p:nvSpPr>
        <p:spPr>
          <a:xfrm xmlns:a="http://schemas.openxmlformats.org/drawingml/2006/main">
            <a:off x="609600" y="1123950"/>
            <a:ext cx="7048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Helvetica Neue"/>
                <a:ea typeface="Helvetica Neue"/>
                <a:cs typeface="Helvetica Neue"/>
              </a:defRPr>
            </a:pPr>
            <a:r>
              <a:rPr sz="4575" b="1">
                <a:solidFill>
                  <a:srgbClr val="FFFFFF"/>
                </a:solidFill>
                <a:latin typeface="Helvetica Neue"/>
                <a:ea typeface="Helvetica Neue"/>
                <a:cs typeface="Helvetica Neue"/>
              </a:rPr>
              <a:t>SoftROI-Boundary</a:t>
            </a:r>
          </a:p>
          <a:p xmlns:a="http://schemas.openxmlformats.org/drawingml/2006/main">
            <a:pPr>
              <a:defRPr sz="4575" b="1">
                <a:solidFill>
                  <a:srgbClr val="FFFFFF"/>
                </a:solidFill>
                <a:latin typeface="Helvetica Neue"/>
                <a:ea typeface="Helvetica Neue"/>
                <a:cs typeface="Helvetica Neue"/>
              </a:defRPr>
            </a:pPr>
            <a:r>
              <a:rPr sz="4575" b="1">
                <a:solidFill>
                  <a:srgbClr val="FFFFFF"/>
                </a:solidFill>
                <a:latin typeface="Helvetica Neue"/>
                <a:ea typeface="Helvetica Neue"/>
                <a:cs typeface="Helvetica Neue"/>
              </a:rPr>
              <a:t>U-Net</a:t>
            </a:r>
          </a:p>
        </p:txBody>
      </p:sp>
      <p:sp>
        <p:nvSpPr>
          <p:cNvPr id="2" name="">
            <a:extLst xmlns:a="http://schemas.openxmlformats.org/drawingml/2006/main">
              <a:ext uri="{FF2B5EF4-FFF2-40B4-BE49-F238E27FC236}">
                <a16:creationId xmlns:a16="http://schemas.microsoft.com/office/drawing/2014/main" id="{17755A32-9D85-4BF5-B19D-9CAE8811925E}"/>
              </a:ext>
            </a:extLst>
          </p:cNvPr>
          <p:cNvSpPr>
            <a:spLocks xmlns:a="http://schemas.openxmlformats.org/drawingml/2006/main" noGrp="1"/>
          </p:cNvSpPr>
          <p:nvPr/>
        </p:nvSpPr>
        <p:spPr>
          <a:xfrm xmlns:a="http://schemas.openxmlformats.org/drawingml/2006/main">
            <a:off x="647700" y="3143250"/>
            <a:ext cx="657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6E7DF"/>
                </a:solidFill>
                <a:latin typeface="Helvetica Neue"/>
                <a:ea typeface="Helvetica Neue"/>
                <a:cs typeface="Helvetica Neue"/>
              </a:defRPr>
            </a:pPr>
            <a:r>
              <a:rPr sz="2550" b="0">
                <a:solidFill>
                  <a:srgbClr val="B6E7DF"/>
                </a:solidFill>
                <a:latin typeface="Helvetica Neue"/>
                <a:ea typeface="Helvetica Neue"/>
                <a:cs typeface="Helvetica Neue"/>
              </a:rPr>
              <a:t>A proposed architecture for</a:t>
            </a:r>
          </a:p>
          <a:p xmlns:a="http://schemas.openxmlformats.org/drawingml/2006/main">
            <a:pPr>
              <a:defRPr sz="2550" b="0">
                <a:solidFill>
                  <a:srgbClr val="B6E7DF"/>
                </a:solidFill>
                <a:latin typeface="Helvetica Neue"/>
                <a:ea typeface="Helvetica Neue"/>
                <a:cs typeface="Helvetica Neue"/>
              </a:defRPr>
            </a:pPr>
            <a:r>
              <a:rPr sz="2550" b="0">
                <a:solidFill>
                  <a:srgbClr val="B6E7DF"/>
                </a:solidFill>
                <a:latin typeface="Helvetica Neue"/>
                <a:ea typeface="Helvetica Neue"/>
                <a:cs typeface="Helvetica Neue"/>
              </a:rPr>
              <a:t>brain tumor segmentation</a:t>
            </a:r>
          </a:p>
        </p:txBody>
      </p:sp>
      <p:sp>
        <p:nvSpPr>
          <p:cNvPr id="3" name="">
            <a:extLst xmlns:a="http://schemas.openxmlformats.org/drawingml/2006/main">
              <a:ext uri="{FF2B5EF4-FFF2-40B4-BE49-F238E27FC236}">
                <a16:creationId xmlns:a16="http://schemas.microsoft.com/office/drawing/2014/main" id="{1AE8A1F1-5929-45D1-BEE9-0A0A05CBC052}"/>
              </a:ext>
            </a:extLst>
          </p:cNvPr>
          <p:cNvSpPr>
            <a:spLocks xmlns:a="http://schemas.openxmlformats.org/drawingml/2006/main" noGrp="1"/>
          </p:cNvSpPr>
          <p:nvPr/>
        </p:nvSpPr>
        <p:spPr>
          <a:xfrm xmlns:a="http://schemas.openxmlformats.org/drawingml/2006/main">
            <a:off x="647700" y="516255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DDAE0"/>
                </a:solidFill>
                <a:latin typeface="Helvetica Neue"/>
                <a:ea typeface="Helvetica Neue"/>
                <a:cs typeface="Helvetica Neue"/>
              </a:defRPr>
            </a:pPr>
            <a:r>
              <a:rPr sz="1800" b="0">
                <a:solidFill>
                  <a:srgbClr val="CDDAE0"/>
                </a:solidFill>
                <a:latin typeface="Helvetica Neue"/>
                <a:ea typeface="Helvetica Neue"/>
                <a:cs typeface="Helvetica Neue"/>
              </a:rPr>
              <a:t>Project progress update</a:t>
            </a:r>
          </a:p>
          <a:p xmlns:a="http://schemas.openxmlformats.org/drawingml/2006/main">
            <a:pPr>
              <a:defRPr sz="1800" b="0">
                <a:solidFill>
                  <a:srgbClr val="CDDAE0"/>
                </a:solidFill>
                <a:latin typeface="Helvetica Neue"/>
                <a:ea typeface="Helvetica Neue"/>
                <a:cs typeface="Helvetica Neue"/>
              </a:defRPr>
            </a:pPr>
            <a:r>
              <a:rPr sz="1800" b="0">
                <a:solidFill>
                  <a:srgbClr val="CDDAE0"/>
                </a:solidFill>
                <a:latin typeface="Helvetica Neue"/>
                <a:ea typeface="Helvetica Neue"/>
                <a:cs typeface="Helvetica Neue"/>
              </a:rPr>
              <a:t>Small-subset experiment with two training seeds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d2c2eae3c8e4ab6"/>
          <a:stretch xmlns:a="http://schemas.openxmlformats.org/drawingml/2006/main"/>
        </p:blipFill>
        <p:spPr>
          <a:xfrm xmlns:a="http://schemas.openxmlformats.org/drawingml/2006/main">
            <a:off x="7905750" y="1428750"/>
            <a:ext cx="3429000" cy="3429000"/>
          </a:xfrm>
          <a:prstGeom xmlns:a="http://schemas.openxmlformats.org/drawingml/2006/main" prst="rect">
            <a:avLst/>
          </a:prstGeom>
        </p:spPr>
      </p:pic>
    </p:spTree>
    <p:extLst>
      <p:ext uri="{BB962C8B-B14F-4D97-AF65-F5344CB8AC3E}">
        <p14:creationId xmlns:p14="http://schemas.microsoft.com/office/powerpoint/2010/main" val="116681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E4358C-7714-427B-8E1C-5B319DE850CE}"/>
              </a:ext>
            </a:extLst>
          </p:cNvPr>
          <p:cNvSpPr>
            <a:spLocks xmlns:a="http://schemas.openxmlformats.org/drawingml/2006/main" noGrp="1"/>
          </p:cNvSpPr>
          <p:nvPr/>
        </p:nvSpPr>
        <p:spPr>
          <a:xfrm xmlns:a="http://schemas.openxmlformats.org/drawingml/2006/main">
            <a:off x="609600" y="419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A38"/>
                </a:solidFill>
                <a:latin typeface="Helvetica Neue"/>
                <a:ea typeface="Helvetica Neue"/>
                <a:cs typeface="Helvetica Neue"/>
              </a:defRPr>
            </a:pPr>
            <a:r>
              <a:rPr sz="3300" b="1">
                <a:solidFill>
                  <a:srgbClr val="142A38"/>
                </a:solidFill>
                <a:latin typeface="Helvetica Neue"/>
                <a:ea typeface="Helvetica Neue"/>
                <a:cs typeface="Helvetica Neue"/>
              </a:rPr>
              <a:t>Motivation from the base paper</a:t>
            </a:r>
          </a:p>
        </p:txBody>
      </p:sp>
      <p:sp>
        <p:nvSpPr>
          <p:cNvPr id="2" name="">
            <a:extLst xmlns:a="http://schemas.openxmlformats.org/drawingml/2006/main">
              <a:ext uri="{FF2B5EF4-FFF2-40B4-BE49-F238E27FC236}">
                <a16:creationId xmlns:a16="http://schemas.microsoft.com/office/drawing/2014/main" id="{426F4B0D-2787-4C81-ACF4-85BC0146F9E6}"/>
              </a:ext>
            </a:extLst>
          </p:cNvPr>
          <p:cNvSpPr>
            <a:spLocks xmlns:a="http://schemas.openxmlformats.org/drawingml/2006/main" noGrp="1"/>
          </p:cNvSpPr>
          <p:nvPr/>
        </p:nvSpPr>
        <p:spPr>
          <a:xfrm xmlns:a="http://schemas.openxmlformats.org/drawingml/2006/main">
            <a:off x="609600" y="1466850"/>
            <a:ext cx="1076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The paper uses YOLOv5 to select a tumor region, then U-Net to segment the extracted patch.</a:t>
            </a:r>
          </a:p>
        </p:txBody>
      </p:sp>
      <p:graphicFrame>
        <p:nvGraphicFramePr>
          <p:cNvPr id="7" name=""/>
          <p:cNvGraphicFramePr/>
          <p:nvPr/>
        </p:nvGraphicFramePr>
        <p:xfrm>
          <a:off xmlns:a="http://schemas.openxmlformats.org/drawingml/2006/main" x="609600" y="2876550"/>
          <a:ext xmlns:a="http://schemas.openxmlformats.org/drawingml/2006/main" cx="10972800" cy="2514600"/>
        </p:xfrm>
        <a:graphic xmlns:a="http://schemas.openxmlformats.org/drawingml/2006/main">
          <a:graphicData uri="http://schemas.openxmlformats.org/drawingml/2006/table">
            <a:tbl>
              <a:tblPr/>
              <a:tblGrid>
                <a:gridCol w="2476500"/>
                <a:gridCol w="3857625"/>
                <a:gridCol w="4638675"/>
              </a:tblGrid>
              <a:tr h="628650">
                <a:tc>
                  <a:txBody>
                    <a:bodyPr/>
                    <a:lstStyle/>
                    <a:p>
                      <a:r>
                        <a:rPr sz="1800" b="1">
                          <a:solidFill>
                            <a:srgbClr val="FFFFFF"/>
                          </a:solidFill>
                          <a:latin typeface="Helvetica Neue"/>
                          <a:ea typeface="Helvetica Neue"/>
                          <a:cs typeface="Helvetica Neue"/>
                        </a:rPr>
                        <a:t>Design choice</a:t>
                      </a:r>
                    </a:p>
                  </a:txBody>
                  <a:tcPr marL="133350" marR="114300" marT="114300" marB="95250" anchor="ctr">
                    <a:solidFill>
                      <a:srgbClr val="142A38"/>
                    </a:solidFill>
                  </a:tcPr>
                </a:tc>
                <a:tc>
                  <a:txBody>
                    <a:bodyPr/>
                    <a:lstStyle/>
                    <a:p>
                      <a:r>
                        <a:rPr sz="1800" b="1">
                          <a:solidFill>
                            <a:srgbClr val="FFFFFF"/>
                          </a:solidFill>
                          <a:latin typeface="Helvetica Neue"/>
                          <a:ea typeface="Helvetica Neue"/>
                          <a:cs typeface="Helvetica Neue"/>
                        </a:rPr>
                        <a:t>Base paper</a:t>
                      </a:r>
                    </a:p>
                  </a:txBody>
                  <a:tcPr marL="133350" marR="114300" marT="114300" marB="95250" anchor="ctr">
                    <a:solidFill>
                      <a:srgbClr val="142A38"/>
                    </a:solidFill>
                  </a:tcPr>
                </a:tc>
                <a:tc>
                  <a:txBody>
                    <a:bodyPr/>
                    <a:lstStyle/>
                    <a:p>
                      <a:r>
                        <a:rPr sz="1800" b="1">
                          <a:solidFill>
                            <a:srgbClr val="FFFFFF"/>
                          </a:solidFill>
                          <a:latin typeface="Helvetica Neue"/>
                          <a:ea typeface="Helvetica Neue"/>
                          <a:cs typeface="Helvetica Neue"/>
                        </a:rPr>
                        <a:t>Our proposal</a:t>
                      </a:r>
                    </a:p>
                  </a:txBody>
                  <a:tcPr marL="133350" marR="114300" marT="114300" marB="95250" anchor="ctr">
                    <a:solidFill>
                      <a:srgbClr val="142A38"/>
                    </a:solidFill>
                  </a:tcPr>
                </a:tc>
              </a:tr>
              <a:tr h="628650">
                <a:tc>
                  <a:txBody>
                    <a:bodyPr/>
                    <a:lstStyle/>
                    <a:p>
                      <a:r>
                        <a:rPr sz="1800" b="0">
                          <a:solidFill>
                            <a:srgbClr val="142A38"/>
                          </a:solidFill>
                          <a:latin typeface="Helvetica Neue"/>
                          <a:ea typeface="Helvetica Neue"/>
                          <a:cs typeface="Helvetica Neue"/>
                        </a:rPr>
                        <a:t>Region selection</a:t>
                      </a:r>
                    </a:p>
                  </a:txBody>
                  <a:tcPr marL="133350" marR="114300" marT="114300" marB="95250" anchor="ctr">
                    <a:solidFill>
                      <a:srgbClr val="F7FAFA"/>
                    </a:solidFill>
                  </a:tcPr>
                </a:tc>
                <a:tc>
                  <a:txBody>
                    <a:bodyPr/>
                    <a:lstStyle/>
                    <a:p>
                      <a:r>
                        <a:rPr sz="1800" b="0">
                          <a:solidFill>
                            <a:srgbClr val="142A38"/>
                          </a:solidFill>
                          <a:latin typeface="Helvetica Neue"/>
                          <a:ea typeface="Helvetica Neue"/>
                          <a:cs typeface="Helvetica Neue"/>
                        </a:rPr>
                        <a:t>Detected bounding box</a:t>
                      </a:r>
                    </a:p>
                  </a:txBody>
                  <a:tcPr marL="133350" marR="114300" marT="114300" marB="95250" anchor="ctr">
                    <a:solidFill>
                      <a:srgbClr val="F7FAFA"/>
                    </a:solidFill>
                  </a:tcPr>
                </a:tc>
                <a:tc>
                  <a:txBody>
                    <a:bodyPr/>
                    <a:lstStyle/>
                    <a:p>
                      <a:r>
                        <a:rPr sz="1800" b="0">
                          <a:solidFill>
                            <a:srgbClr val="142A38"/>
                          </a:solidFill>
                          <a:latin typeface="Helvetica Neue"/>
                          <a:ea typeface="Helvetica Neue"/>
                          <a:cs typeface="Helvetica Neue"/>
                        </a:rPr>
                        <a:t>Learned soft ROI map</a:t>
                      </a:r>
                    </a:p>
                  </a:txBody>
                  <a:tcPr marL="133350" marR="114300" marT="114300" marB="95250" anchor="ctr">
                    <a:solidFill>
                      <a:srgbClr val="F7FAFA"/>
                    </a:solidFill>
                  </a:tcPr>
                </a:tc>
              </a:tr>
              <a:tr h="628650">
                <a:tc>
                  <a:txBody>
                    <a:bodyPr/>
                    <a:lstStyle/>
                    <a:p>
                      <a:r>
                        <a:rPr sz="1800" b="0">
                          <a:solidFill>
                            <a:srgbClr val="142A38"/>
                          </a:solidFill>
                          <a:latin typeface="Helvetica Neue"/>
                          <a:ea typeface="Helvetica Neue"/>
                          <a:cs typeface="Helvetica Neue"/>
                        </a:rPr>
                        <a:t>Image context</a:t>
                      </a:r>
                    </a:p>
                  </a:txBody>
                  <a:tcPr marL="133350" marR="114300" marT="114300" marB="95250" anchor="ctr">
                    <a:solidFill>
                      <a:srgbClr val="FFFFFF"/>
                    </a:solidFill>
                  </a:tcPr>
                </a:tc>
                <a:tc>
                  <a:txBody>
                    <a:bodyPr/>
                    <a:lstStyle/>
                    <a:p>
                      <a:r>
                        <a:rPr sz="1800" b="0">
                          <a:solidFill>
                            <a:srgbClr val="142A38"/>
                          </a:solidFill>
                          <a:latin typeface="Helvetica Neue"/>
                          <a:ea typeface="Helvetica Neue"/>
                          <a:cs typeface="Helvetica Neue"/>
                        </a:rPr>
                        <a:t>Cropped patch</a:t>
                      </a:r>
                    </a:p>
                  </a:txBody>
                  <a:tcPr marL="133350" marR="114300" marT="114300" marB="95250" anchor="ctr">
                    <a:solidFill>
                      <a:srgbClr val="FFFFFF"/>
                    </a:solidFill>
                  </a:tcPr>
                </a:tc>
                <a:tc>
                  <a:txBody>
                    <a:bodyPr/>
                    <a:lstStyle/>
                    <a:p>
                      <a:r>
                        <a:rPr sz="1800" b="0">
                          <a:solidFill>
                            <a:srgbClr val="142A38"/>
                          </a:solidFill>
                          <a:latin typeface="Helvetica Neue"/>
                          <a:ea typeface="Helvetica Neue"/>
                          <a:cs typeface="Helvetica Neue"/>
                        </a:rPr>
                        <a:t>Full image retained</a:t>
                      </a:r>
                    </a:p>
                  </a:txBody>
                  <a:tcPr marL="133350" marR="114300" marT="114300" marB="95250" anchor="ctr">
                    <a:solidFill>
                      <a:srgbClr val="FFFFFF"/>
                    </a:solidFill>
                  </a:tcPr>
                </a:tc>
              </a:tr>
              <a:tr h="628650">
                <a:tc>
                  <a:txBody>
                    <a:bodyPr/>
                    <a:lstStyle/>
                    <a:p>
                      <a:r>
                        <a:rPr sz="1800" b="0">
                          <a:solidFill>
                            <a:srgbClr val="142A38"/>
                          </a:solidFill>
                          <a:latin typeface="Helvetica Neue"/>
                          <a:ea typeface="Helvetica Neue"/>
                          <a:cs typeface="Helvetica Neue"/>
                        </a:rPr>
                        <a:t>Segmentation</a:t>
                      </a:r>
                    </a:p>
                  </a:txBody>
                  <a:tcPr marL="133350" marR="114300" marT="114300" marB="95250" anchor="ctr">
                    <a:solidFill>
                      <a:srgbClr val="F7FAFA"/>
                    </a:solidFill>
                  </a:tcPr>
                </a:tc>
                <a:tc>
                  <a:txBody>
                    <a:bodyPr/>
                    <a:lstStyle/>
                    <a:p>
                      <a:r>
                        <a:rPr sz="1800" b="0">
                          <a:solidFill>
                            <a:srgbClr val="142A38"/>
                          </a:solidFill>
                          <a:latin typeface="Helvetica Neue"/>
                          <a:ea typeface="Helvetica Neue"/>
                          <a:cs typeface="Helvetica Neue"/>
                        </a:rPr>
                        <a:t>Separate 2D U-Net</a:t>
                      </a:r>
                    </a:p>
                  </a:txBody>
                  <a:tcPr marL="133350" marR="114300" marT="114300" marB="95250" anchor="ctr">
                    <a:solidFill>
                      <a:srgbClr val="F7FAFA"/>
                    </a:solidFill>
                  </a:tcPr>
                </a:tc>
                <a:tc>
                  <a:txBody>
                    <a:bodyPr/>
                    <a:lstStyle/>
                    <a:p>
                      <a:r>
                        <a:rPr sz="1800" b="0">
                          <a:solidFill>
                            <a:srgbClr val="142A38"/>
                          </a:solidFill>
                          <a:latin typeface="Helvetica Neue"/>
                          <a:ea typeface="Helvetica Neue"/>
                          <a:cs typeface="Helvetica Neue"/>
                        </a:rPr>
                        <a:t>Shared network + boundary refinement</a:t>
                      </a:r>
                    </a:p>
                  </a:txBody>
                  <a:tcPr marL="133350" marR="114300" marT="114300" marB="95250" anchor="ctr">
                    <a:solidFill>
                      <a:srgbClr val="F7FAFA"/>
                    </a:solidFill>
                  </a:tcPr>
                </a:tc>
              </a:tr>
            </a:tbl>
          </a:graphicData>
        </a:graphic>
      </p:graphicFrame>
      <p:sp>
        <p:nvSpPr>
          <p:cNvPr id="4" name="">
            <a:extLst xmlns:a="http://schemas.openxmlformats.org/drawingml/2006/main">
              <a:ext uri="{FF2B5EF4-FFF2-40B4-BE49-F238E27FC236}">
                <a16:creationId xmlns:a16="http://schemas.microsoft.com/office/drawing/2014/main" id="{787400D0-C7EE-479E-AFEB-ED3B5ACC6094}"/>
              </a:ext>
            </a:extLst>
          </p:cNvPr>
          <p:cNvSpPr>
            <a:spLocks xmlns:a="http://schemas.openxmlformats.org/drawingml/2006/main" noGrp="1"/>
          </p:cNvSpPr>
          <p:nvPr/>
        </p:nvSpPr>
        <p:spPr>
          <a:xfrm xmlns:a="http://schemas.openxmlformats.org/drawingml/2006/main">
            <a:off x="609600" y="60960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B75"/>
                </a:solidFill>
                <a:latin typeface="Helvetica Neue"/>
                <a:ea typeface="Helvetica Neue"/>
                <a:cs typeface="Helvetica Neue"/>
              </a:defRPr>
            </a:pPr>
            <a:r>
              <a:rPr sz="1500" b="0">
                <a:solidFill>
                  <a:srgbClr val="566B75"/>
                </a:solidFill>
                <a:latin typeface="Helvetica Neue"/>
                <a:ea typeface="Helvetica Neue"/>
                <a:cs typeface="Helvetica Neue"/>
              </a:rPr>
              <a:t>Hypothesis: soft guidance may reduce dependence on the quality of a hard crop.</a:t>
            </a:r>
          </a:p>
        </p:txBody>
      </p:sp>
    </p:spTree>
    <p:extLst>
      <p:ext uri="{BB962C8B-B14F-4D97-AF65-F5344CB8AC3E}">
        <p14:creationId xmlns:p14="http://schemas.microsoft.com/office/powerpoint/2010/main" val="6299489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8A438C5-4B2B-4A47-AEDE-842F85D5D464}"/>
              </a:ext>
            </a:extLst>
          </p:cNvPr>
          <p:cNvSpPr>
            <a:spLocks xmlns:a="http://schemas.openxmlformats.org/drawingml/2006/main" noGrp="1"/>
          </p:cNvSpPr>
          <p:nvPr/>
        </p:nvSpPr>
        <p:spPr>
          <a:xfrm xmlns:a="http://schemas.openxmlformats.org/drawingml/2006/main">
            <a:off x="609600" y="419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A38"/>
                </a:solidFill>
                <a:latin typeface="Helvetica Neue"/>
                <a:ea typeface="Helvetica Neue"/>
                <a:cs typeface="Helvetica Neue"/>
              </a:defRPr>
            </a:pPr>
            <a:r>
              <a:rPr sz="3300" b="1">
                <a:solidFill>
                  <a:srgbClr val="142A38"/>
                </a:solidFill>
                <a:latin typeface="Helvetica Neue"/>
                <a:ea typeface="Helvetica Neue"/>
                <a:cs typeface="Helvetica Neue"/>
              </a:rPr>
              <a:t>Proposed architecture</a:t>
            </a:r>
          </a:p>
        </p:txBody>
      </p:sp>
      <p:graphicFrame>
        <p:nvGraphicFramePr>
          <p:cNvPr id="6" name=""/>
          <p:cNvGraphicFramePr/>
          <p:nvPr/>
        </p:nvGraphicFramePr>
        <p:xfrm>
          <a:off xmlns:a="http://schemas.openxmlformats.org/drawingml/2006/main" x="609600" y="1457325"/>
          <a:ext xmlns:a="http://schemas.openxmlformats.org/drawingml/2006/main" cx="10972800" cy="3571875"/>
        </p:xfrm>
        <a:graphic xmlns:a="http://schemas.openxmlformats.org/drawingml/2006/main">
          <a:graphicData uri="http://schemas.openxmlformats.org/drawingml/2006/table">
            <a:tbl>
              <a:tblPr/>
              <a:tblGrid>
                <a:gridCol w="2381250"/>
                <a:gridCol w="4114800"/>
                <a:gridCol w="4476750"/>
              </a:tblGrid>
              <a:tr h="714375">
                <a:tc>
                  <a:txBody>
                    <a:bodyPr/>
                    <a:lstStyle/>
                    <a:p>
                      <a:r>
                        <a:rPr sz="1800" b="1">
                          <a:solidFill>
                            <a:srgbClr val="FFFFFF"/>
                          </a:solidFill>
                          <a:latin typeface="Helvetica Neue"/>
                          <a:ea typeface="Helvetica Neue"/>
                          <a:cs typeface="Helvetica Neue"/>
                        </a:rPr>
                        <a:t>Stage</a:t>
                      </a:r>
                    </a:p>
                  </a:txBody>
                  <a:tcPr marL="133350" marR="114300" marT="114300" marB="95250" anchor="ctr">
                    <a:solidFill>
                      <a:srgbClr val="142A38"/>
                    </a:solidFill>
                  </a:tcPr>
                </a:tc>
                <a:tc>
                  <a:txBody>
                    <a:bodyPr/>
                    <a:lstStyle/>
                    <a:p>
                      <a:r>
                        <a:rPr sz="1800" b="1">
                          <a:solidFill>
                            <a:srgbClr val="FFFFFF"/>
                          </a:solidFill>
                          <a:latin typeface="Helvetica Neue"/>
                          <a:ea typeface="Helvetica Neue"/>
                          <a:cs typeface="Helvetica Neue"/>
                        </a:rPr>
                        <a:t>Representation</a:t>
                      </a:r>
                    </a:p>
                  </a:txBody>
                  <a:tcPr marL="133350" marR="114300" marT="114300" marB="95250" anchor="ctr">
                    <a:solidFill>
                      <a:srgbClr val="142A38"/>
                    </a:solidFill>
                  </a:tcPr>
                </a:tc>
                <a:tc>
                  <a:txBody>
                    <a:bodyPr/>
                    <a:lstStyle/>
                    <a:p>
                      <a:r>
                        <a:rPr sz="1800" b="1">
                          <a:solidFill>
                            <a:srgbClr val="FFFFFF"/>
                          </a:solidFill>
                          <a:latin typeface="Helvetica Neue"/>
                          <a:ea typeface="Helvetica Neue"/>
                          <a:cs typeface="Helvetica Neue"/>
                        </a:rPr>
                        <a:t>Operation</a:t>
                      </a:r>
                    </a:p>
                  </a:txBody>
                  <a:tcPr marL="133350" marR="114300" marT="114300" marB="95250" anchor="ctr">
                    <a:solidFill>
                      <a:srgbClr val="142A38"/>
                    </a:solidFill>
                  </a:tcPr>
                </a:tc>
              </a:tr>
              <a:tr h="714375">
                <a:tc>
                  <a:txBody>
                    <a:bodyPr/>
                    <a:lstStyle/>
                    <a:p>
                      <a:r>
                        <a:rPr sz="1800" b="0">
                          <a:solidFill>
                            <a:srgbClr val="142A38"/>
                          </a:solidFill>
                          <a:latin typeface="Helvetica Neue"/>
                          <a:ea typeface="Helvetica Neue"/>
                          <a:cs typeface="Helvetica Neue"/>
                        </a:rPr>
                        <a:t>Shared encoder</a:t>
                      </a:r>
                    </a:p>
                  </a:txBody>
                  <a:tcPr marL="133350" marR="114300" marT="114300" marB="95250" anchor="ctr">
                    <a:solidFill>
                      <a:srgbClr val="F7FAFA"/>
                    </a:solidFill>
                  </a:tcPr>
                </a:tc>
                <a:tc>
                  <a:txBody>
                    <a:bodyPr/>
                    <a:lstStyle/>
                    <a:p>
                      <a:r>
                        <a:rPr sz="1800" b="0">
                          <a:solidFill>
                            <a:srgbClr val="142A38"/>
                          </a:solidFill>
                          <a:latin typeface="Helvetica Neue"/>
                          <a:ea typeface="Helvetica Neue"/>
                          <a:cs typeface="Helvetica Neue"/>
                        </a:rPr>
                        <a:t>128 x 128 MRI to 16 x 16 features</a:t>
                      </a:r>
                    </a:p>
                  </a:txBody>
                  <a:tcPr marL="133350" marR="114300" marT="114300" marB="95250" anchor="ctr">
                    <a:solidFill>
                      <a:srgbClr val="F7FAFA"/>
                    </a:solidFill>
                  </a:tcPr>
                </a:tc>
                <a:tc>
                  <a:txBody>
                    <a:bodyPr/>
                    <a:lstStyle/>
                    <a:p>
                      <a:r>
                        <a:rPr sz="1800" b="0">
                          <a:solidFill>
                            <a:srgbClr val="142A38"/>
                          </a:solidFill>
                          <a:latin typeface="Helvetica Neue"/>
                          <a:ea typeface="Helvetica Neue"/>
                          <a:cs typeface="Helvetica Neue"/>
                        </a:rPr>
                        <a:t>Extract features at four scales</a:t>
                      </a:r>
                    </a:p>
                  </a:txBody>
                  <a:tcPr marL="133350" marR="114300" marT="114300" marB="95250" anchor="ctr">
                    <a:solidFill>
                      <a:srgbClr val="F7FAFA"/>
                    </a:solidFill>
                  </a:tcPr>
                </a:tc>
              </a:tr>
              <a:tr h="714375">
                <a:tc>
                  <a:txBody>
                    <a:bodyPr/>
                    <a:lstStyle/>
                    <a:p>
                      <a:r>
                        <a:rPr sz="1800" b="0">
                          <a:solidFill>
                            <a:srgbClr val="142A38"/>
                          </a:solidFill>
                          <a:latin typeface="Helvetica Neue"/>
                          <a:ea typeface="Helvetica Neue"/>
                          <a:cs typeface="Helvetica Neue"/>
                        </a:rPr>
                        <a:t>Soft region guidance</a:t>
                      </a:r>
                    </a:p>
                  </a:txBody>
                  <a:tcPr marL="133350" marR="114300" marT="114300" marB="95250" anchor="ctr">
                    <a:solidFill>
                      <a:srgbClr val="FFFFFF"/>
                    </a:solidFill>
                  </a:tcPr>
                </a:tc>
                <a:tc>
                  <a:txBody>
                    <a:bodyPr/>
                    <a:lstStyle/>
                    <a:p>
                      <a:r>
                        <a:rPr sz="1800" b="0">
                          <a:solidFill>
                            <a:srgbClr val="142A38"/>
                          </a:solidFill>
                          <a:latin typeface="Helvetica Neue"/>
                          <a:ea typeface="Helvetica Neue"/>
                          <a:cs typeface="Helvetica Neue"/>
                        </a:rPr>
                        <a:t>16 x 16 tumor probability R</a:t>
                      </a:r>
                    </a:p>
                  </a:txBody>
                  <a:tcPr marL="133350" marR="114300" marT="114300" marB="95250" anchor="ctr">
                    <a:solidFill>
                      <a:srgbClr val="FFFFFF"/>
                    </a:solidFill>
                  </a:tcPr>
                </a:tc>
                <a:tc>
                  <a:txBody>
                    <a:bodyPr/>
                    <a:lstStyle/>
                    <a:p>
                      <a:r>
                        <a:rPr sz="1800" b="0">
                          <a:solidFill>
                            <a:srgbClr val="142A38"/>
                          </a:solidFill>
                          <a:latin typeface="Helvetica Neue"/>
                          <a:ea typeface="Helvetica Neue"/>
                          <a:cs typeface="Helvetica Neue"/>
                        </a:rPr>
                        <a:t>Reweight skip features by 0.5 + R</a:t>
                      </a:r>
                    </a:p>
                  </a:txBody>
                  <a:tcPr marL="133350" marR="114300" marT="114300" marB="95250" anchor="ctr">
                    <a:solidFill>
                      <a:srgbClr val="FFFFFF"/>
                    </a:solidFill>
                  </a:tcPr>
                </a:tc>
              </a:tr>
              <a:tr h="714375">
                <a:tc>
                  <a:txBody>
                    <a:bodyPr/>
                    <a:lstStyle/>
                    <a:p>
                      <a:r>
                        <a:rPr sz="1800" b="0">
                          <a:solidFill>
                            <a:srgbClr val="142A38"/>
                          </a:solidFill>
                          <a:latin typeface="Helvetica Neue"/>
                          <a:ea typeface="Helvetica Neue"/>
                          <a:cs typeface="Helvetica Neue"/>
                        </a:rPr>
                        <a:t>Decoder + boundary head</a:t>
                      </a:r>
                    </a:p>
                  </a:txBody>
                  <a:tcPr marL="133350" marR="114300" marT="114300" marB="95250" anchor="ctr">
                    <a:solidFill>
                      <a:srgbClr val="F7FAFA"/>
                    </a:solidFill>
                  </a:tcPr>
                </a:tc>
                <a:tc>
                  <a:txBody>
                    <a:bodyPr/>
                    <a:lstStyle/>
                    <a:p>
                      <a:r>
                        <a:rPr sz="1800" b="0">
                          <a:solidFill>
                            <a:srgbClr val="142A38"/>
                          </a:solidFill>
                          <a:latin typeface="Helvetica Neue"/>
                          <a:ea typeface="Helvetica Neue"/>
                          <a:cs typeface="Helvetica Neue"/>
                        </a:rPr>
                        <a:t>128 x 128 mask and boundary logits</a:t>
                      </a:r>
                    </a:p>
                  </a:txBody>
                  <a:tcPr marL="133350" marR="114300" marT="114300" marB="95250" anchor="ctr">
                    <a:solidFill>
                      <a:srgbClr val="F7FAFA"/>
                    </a:solidFill>
                  </a:tcPr>
                </a:tc>
                <a:tc>
                  <a:txBody>
                    <a:bodyPr/>
                    <a:lstStyle/>
                    <a:p>
                      <a:r>
                        <a:rPr sz="1800" b="0">
                          <a:solidFill>
                            <a:srgbClr val="142A38"/>
                          </a:solidFill>
                          <a:latin typeface="Helvetica Neue"/>
                          <a:ea typeface="Helvetica Neue"/>
                          <a:cs typeface="Helvetica Neue"/>
                        </a:rPr>
                        <a:t>Preserve context and predict edges</a:t>
                      </a:r>
                    </a:p>
                  </a:txBody>
                  <a:tcPr marL="133350" marR="114300" marT="114300" marB="95250" anchor="ctr">
                    <a:solidFill>
                      <a:srgbClr val="F7FAFA"/>
                    </a:solidFill>
                  </a:tcPr>
                </a:tc>
              </a:tr>
              <a:tr h="714375">
                <a:tc>
                  <a:txBody>
                    <a:bodyPr/>
                    <a:lstStyle/>
                    <a:p>
                      <a:r>
                        <a:rPr sz="1800" b="0">
                          <a:solidFill>
                            <a:srgbClr val="142A38"/>
                          </a:solidFill>
                          <a:latin typeface="Helvetica Neue"/>
                          <a:ea typeface="Helvetica Neue"/>
                          <a:cs typeface="Helvetica Neue"/>
                        </a:rPr>
                        <a:t>Uncertainty refinement</a:t>
                      </a:r>
                    </a:p>
                  </a:txBody>
                  <a:tcPr marL="133350" marR="114300" marT="114300" marB="95250" anchor="ctr">
                    <a:solidFill>
                      <a:srgbClr val="FFFFFF"/>
                    </a:solidFill>
                  </a:tcPr>
                </a:tc>
                <a:tc>
                  <a:txBody>
                    <a:bodyPr/>
                    <a:lstStyle/>
                    <a:p>
                      <a:r>
                        <a:rPr sz="1800" b="0">
                          <a:solidFill>
                            <a:srgbClr val="142A38"/>
                          </a:solidFill>
                          <a:latin typeface="Helvetica Neue"/>
                          <a:ea typeface="Helvetica Neue"/>
                          <a:cs typeface="Helvetica Neue"/>
                        </a:rPr>
                        <a:t>u = 4p(1-p)</a:t>
                      </a:r>
                    </a:p>
                  </a:txBody>
                  <a:tcPr marL="133350" marR="114300" marT="114300" marB="95250" anchor="ctr">
                    <a:solidFill>
                      <a:srgbClr val="FFFFFF"/>
                    </a:solidFill>
                  </a:tcPr>
                </a:tc>
                <a:tc>
                  <a:txBody>
                    <a:bodyPr/>
                    <a:lstStyle/>
                    <a:p>
                      <a:r>
                        <a:rPr sz="1800" b="0">
                          <a:solidFill>
                            <a:srgbClr val="142A38"/>
                          </a:solidFill>
                          <a:latin typeface="Helvetica Neue"/>
                          <a:ea typeface="Helvetica Neue"/>
                          <a:cs typeface="Helvetica Neue"/>
                        </a:rPr>
                        <a:t>Final logit = base logit + u x residual</a:t>
                      </a:r>
                    </a:p>
                  </a:txBody>
                  <a:tcPr marL="133350" marR="114300" marT="114300" marB="952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C1424A2-1C15-4BFF-B18B-541AC78B9244}"/>
              </a:ext>
            </a:extLst>
          </p:cNvPr>
          <p:cNvSpPr>
            <a:spLocks xmlns:a="http://schemas.openxmlformats.org/drawingml/2006/main" noGrp="1"/>
          </p:cNvSpPr>
          <p:nvPr/>
        </p:nvSpPr>
        <p:spPr>
          <a:xfrm xmlns:a="http://schemas.openxmlformats.org/drawingml/2006/main">
            <a:off x="609600" y="53149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492,167 parameters. The full proposal adds 0.83% over the shared baseline.</a:t>
            </a:r>
          </a:p>
        </p:txBody>
      </p:sp>
      <p:sp>
        <p:nvSpPr>
          <p:cNvPr id="4" name="">
            <a:extLst xmlns:a="http://schemas.openxmlformats.org/drawingml/2006/main">
              <a:ext uri="{FF2B5EF4-FFF2-40B4-BE49-F238E27FC236}">
                <a16:creationId xmlns:a16="http://schemas.microsoft.com/office/drawing/2014/main" id="{08E2AC11-99CB-4FA5-88A6-0CEDF785E138}"/>
              </a:ext>
            </a:extLst>
          </p:cNvPr>
          <p:cNvSpPr>
            <a:spLocks xmlns:a="http://schemas.openxmlformats.org/drawingml/2006/main" noGrp="1"/>
          </p:cNvSpPr>
          <p:nvPr/>
        </p:nvSpPr>
        <p:spPr>
          <a:xfrm xmlns:a="http://schemas.openxmlformats.org/drawingml/2006/main">
            <a:off x="609600" y="60960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B75"/>
                </a:solidFill>
                <a:latin typeface="Helvetica Neue"/>
                <a:ea typeface="Helvetica Neue"/>
                <a:cs typeface="Helvetica Neue"/>
              </a:defRPr>
            </a:pPr>
            <a:r>
              <a:rPr sz="1500" b="0">
                <a:solidFill>
                  <a:srgbClr val="566B75"/>
                </a:solidFill>
                <a:latin typeface="Helvetica Neue"/>
                <a:ea typeface="Helvetica Neue"/>
                <a:cs typeface="Helvetica Neue"/>
              </a:rPr>
              <a:t>Ground-truth masks supervise training targets only. They never enter the forward pass.</a:t>
            </a:r>
          </a:p>
        </p:txBody>
      </p:sp>
    </p:spTree>
    <p:extLst>
      <p:ext uri="{BB962C8B-B14F-4D97-AF65-F5344CB8AC3E}">
        <p14:creationId xmlns:p14="http://schemas.microsoft.com/office/powerpoint/2010/main" val="6671974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039355-0C95-4DB6-BA70-EC93CC0E7707}"/>
              </a:ext>
            </a:extLst>
          </p:cNvPr>
          <p:cNvSpPr>
            <a:spLocks xmlns:a="http://schemas.openxmlformats.org/drawingml/2006/main" noGrp="1"/>
          </p:cNvSpPr>
          <p:nvPr/>
        </p:nvSpPr>
        <p:spPr>
          <a:xfrm xmlns:a="http://schemas.openxmlformats.org/drawingml/2006/main">
            <a:off x="609600" y="419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A38"/>
                </a:solidFill>
                <a:latin typeface="Helvetica Neue"/>
                <a:ea typeface="Helvetica Neue"/>
                <a:cs typeface="Helvetica Neue"/>
              </a:defRPr>
            </a:pPr>
            <a:r>
              <a:rPr sz="3300" b="1">
                <a:solidFill>
                  <a:srgbClr val="142A38"/>
                </a:solidFill>
                <a:latin typeface="Helvetica Neue"/>
                <a:ea typeface="Helvetica Neue"/>
                <a:cs typeface="Helvetica Neue"/>
              </a:rPr>
              <a:t>Controlled experiment</a:t>
            </a:r>
          </a:p>
        </p:txBody>
      </p:sp>
      <p:graphicFrame>
        <p:nvGraphicFramePr>
          <p:cNvPr id="6" name=""/>
          <p:cNvGraphicFramePr/>
          <p:nvPr/>
        </p:nvGraphicFramePr>
        <p:xfrm>
          <a:off xmlns:a="http://schemas.openxmlformats.org/drawingml/2006/main" x="609600" y="1466850"/>
          <a:ext xmlns:a="http://schemas.openxmlformats.org/drawingml/2006/main" cx="10972800" cy="2590800"/>
        </p:xfrm>
        <a:graphic xmlns:a="http://schemas.openxmlformats.org/drawingml/2006/main">
          <a:graphicData uri="http://schemas.openxmlformats.org/drawingml/2006/table">
            <a:tbl>
              <a:tblPr/>
              <a:tblGrid>
                <a:gridCol w="4762500"/>
                <a:gridCol w="2857500"/>
                <a:gridCol w="3352800"/>
              </a:tblGrid>
              <a:tr h="647700">
                <a:tc>
                  <a:txBody>
                    <a:bodyPr/>
                    <a:lstStyle/>
                    <a:p>
                      <a:r>
                        <a:rPr sz="2025" b="1">
                          <a:solidFill>
                            <a:srgbClr val="FFFFFF"/>
                          </a:solidFill>
                          <a:latin typeface="Helvetica Neue"/>
                          <a:ea typeface="Helvetica Neue"/>
                          <a:cs typeface="Helvetica Neue"/>
                        </a:rPr>
                        <a:t>Split</a:t>
                      </a:r>
                    </a:p>
                  </a:txBody>
                  <a:tcPr marL="133350" marR="114300" marT="114300" marB="95250" anchor="ctr">
                    <a:solidFill>
                      <a:srgbClr val="142A38"/>
                    </a:solidFill>
                  </a:tcPr>
                </a:tc>
                <a:tc>
                  <a:txBody>
                    <a:bodyPr/>
                    <a:lstStyle/>
                    <a:p>
                      <a:r>
                        <a:rPr sz="2025" b="1">
                          <a:solidFill>
                            <a:srgbClr val="FFFFFF"/>
                          </a:solidFill>
                          <a:latin typeface="Helvetica Neue"/>
                          <a:ea typeface="Helvetica Neue"/>
                          <a:cs typeface="Helvetica Neue"/>
                        </a:rPr>
                        <a:t>Patients</a:t>
                      </a:r>
                    </a:p>
                  </a:txBody>
                  <a:tcPr marL="133350" marR="114300" marT="114300" marB="95250" anchor="ctr">
                    <a:solidFill>
                      <a:srgbClr val="142A38"/>
                    </a:solidFill>
                  </a:tcPr>
                </a:tc>
                <a:tc>
                  <a:txBody>
                    <a:bodyPr/>
                    <a:lstStyle/>
                    <a:p>
                      <a:r>
                        <a:rPr sz="2025" b="1">
                          <a:solidFill>
                            <a:srgbClr val="FFFFFF"/>
                          </a:solidFill>
                          <a:latin typeface="Helvetica Neue"/>
                          <a:ea typeface="Helvetica Neue"/>
                          <a:cs typeface="Helvetica Neue"/>
                        </a:rPr>
                        <a:t>MRI slices</a:t>
                      </a:r>
                    </a:p>
                  </a:txBody>
                  <a:tcPr marL="133350" marR="114300" marT="114300" marB="95250" anchor="ctr">
                    <a:solidFill>
                      <a:srgbClr val="142A38"/>
                    </a:solidFill>
                  </a:tcPr>
                </a:tc>
              </a:tr>
              <a:tr h="647700">
                <a:tc>
                  <a:txBody>
                    <a:bodyPr/>
                    <a:lstStyle/>
                    <a:p>
                      <a:r>
                        <a:rPr sz="2025" b="0">
                          <a:solidFill>
                            <a:srgbClr val="142A38"/>
                          </a:solidFill>
                          <a:latin typeface="Helvetica Neue"/>
                          <a:ea typeface="Helvetica Neue"/>
                          <a:cs typeface="Helvetica Neue"/>
                        </a:rPr>
                        <a:t>Training</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48</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398</a:t>
                      </a:r>
                    </a:p>
                  </a:txBody>
                  <a:tcPr marL="133350" marR="114300" marT="114300" marB="95250" anchor="ctr">
                    <a:solidFill>
                      <a:srgbClr val="F7FAFA"/>
                    </a:solidFill>
                  </a:tcPr>
                </a:tc>
              </a:tr>
              <a:tr h="647700">
                <a:tc>
                  <a:txBody>
                    <a:bodyPr/>
                    <a:lstStyle/>
                    <a:p>
                      <a:r>
                        <a:rPr sz="2025" b="0">
                          <a:solidFill>
                            <a:srgbClr val="142A38"/>
                          </a:solidFill>
                          <a:latin typeface="Helvetica Neue"/>
                          <a:ea typeface="Helvetica Neue"/>
                          <a:cs typeface="Helvetica Neue"/>
                        </a:rPr>
                        <a:t>Validation</a:t>
                      </a:r>
                    </a:p>
                  </a:txBody>
                  <a:tcPr marL="133350" marR="114300" marT="114300" marB="95250" anchor="ctr">
                    <a:solidFill>
                      <a:srgbClr val="FFFFFF"/>
                    </a:solidFill>
                  </a:tcPr>
                </a:tc>
                <a:tc>
                  <a:txBody>
                    <a:bodyPr/>
                    <a:lstStyle/>
                    <a:p>
                      <a:r>
                        <a:rPr sz="2025" b="0">
                          <a:solidFill>
                            <a:srgbClr val="142A38"/>
                          </a:solidFill>
                          <a:latin typeface="Helvetica Neue"/>
                          <a:ea typeface="Helvetica Neue"/>
                          <a:cs typeface="Helvetica Neue"/>
                        </a:rPr>
                        <a:t>12</a:t>
                      </a:r>
                    </a:p>
                  </a:txBody>
                  <a:tcPr marL="133350" marR="114300" marT="114300" marB="95250" anchor="ctr">
                    <a:solidFill>
                      <a:srgbClr val="FFFFFF"/>
                    </a:solidFill>
                  </a:tcPr>
                </a:tc>
                <a:tc>
                  <a:txBody>
                    <a:bodyPr/>
                    <a:lstStyle/>
                    <a:p>
                      <a:r>
                        <a:rPr sz="2025" b="0">
                          <a:solidFill>
                            <a:srgbClr val="142A38"/>
                          </a:solidFill>
                          <a:latin typeface="Helvetica Neue"/>
                          <a:ea typeface="Helvetica Neue"/>
                          <a:cs typeface="Helvetica Neue"/>
                        </a:rPr>
                        <a:t>117</a:t>
                      </a:r>
                    </a:p>
                  </a:txBody>
                  <a:tcPr marL="133350" marR="114300" marT="114300" marB="95250" anchor="ctr">
                    <a:solidFill>
                      <a:srgbClr val="FFFFFF"/>
                    </a:solidFill>
                  </a:tcPr>
                </a:tc>
              </a:tr>
              <a:tr h="647700">
                <a:tc>
                  <a:txBody>
                    <a:bodyPr/>
                    <a:lstStyle/>
                    <a:p>
                      <a:r>
                        <a:rPr sz="2025" b="0">
                          <a:solidFill>
                            <a:srgbClr val="142A38"/>
                          </a:solidFill>
                          <a:latin typeface="Helvetica Neue"/>
                          <a:ea typeface="Helvetica Neue"/>
                          <a:cs typeface="Helvetica Neue"/>
                        </a:rPr>
                        <a:t>Test</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15</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129</a:t>
                      </a:r>
                    </a:p>
                  </a:txBody>
                  <a:tcPr marL="133350" marR="114300" marT="114300" marB="95250" anchor="ctr">
                    <a:solidFill>
                      <a:srgbClr val="F7FAFA"/>
                    </a:solidFill>
                  </a:tcPr>
                </a:tc>
              </a:tr>
            </a:tbl>
          </a:graphicData>
        </a:graphic>
      </p:graphicFrame>
      <p:sp>
        <p:nvSpPr>
          <p:cNvPr id="3" name="">
            <a:extLst xmlns:a="http://schemas.openxmlformats.org/drawingml/2006/main">
              <a:ext uri="{FF2B5EF4-FFF2-40B4-BE49-F238E27FC236}">
                <a16:creationId xmlns:a16="http://schemas.microsoft.com/office/drawing/2014/main" id="{6CB99C3D-0889-468E-94E3-BBC35552143F}"/>
              </a:ext>
            </a:extLst>
          </p:cNvPr>
          <p:cNvSpPr>
            <a:spLocks xmlns:a="http://schemas.openxmlformats.org/drawingml/2006/main" noGrp="1"/>
          </p:cNvSpPr>
          <p:nvPr/>
        </p:nvSpPr>
        <p:spPr>
          <a:xfrm xmlns:a="http://schemas.openxmlformats.org/drawingml/2006/main">
            <a:off x="609600" y="4419600"/>
            <a:ext cx="10763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128 x 128 inputs. Three tumor classes. Two seeds per variant.</a:t>
            </a:r>
          </a:p>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60 epochs, batch size 16, AdamW. No patient overlap.</a:t>
            </a:r>
          </a:p>
        </p:txBody>
      </p:sp>
      <p:sp>
        <p:nvSpPr>
          <p:cNvPr id="4" name="">
            <a:extLst xmlns:a="http://schemas.openxmlformats.org/drawingml/2006/main">
              <a:ext uri="{FF2B5EF4-FFF2-40B4-BE49-F238E27FC236}">
                <a16:creationId xmlns:a16="http://schemas.microsoft.com/office/drawing/2014/main" id="{46A1EFAD-048C-40D4-B7E1-F3B6FB499932}"/>
              </a:ext>
            </a:extLst>
          </p:cNvPr>
          <p:cNvSpPr>
            <a:spLocks xmlns:a="http://schemas.openxmlformats.org/drawingml/2006/main" noGrp="1"/>
          </p:cNvSpPr>
          <p:nvPr/>
        </p:nvSpPr>
        <p:spPr>
          <a:xfrm xmlns:a="http://schemas.openxmlformats.org/drawingml/2006/main">
            <a:off x="609600" y="60960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B75"/>
                </a:solidFill>
                <a:latin typeface="Helvetica Neue"/>
                <a:ea typeface="Helvetica Neue"/>
                <a:cs typeface="Helvetica Neue"/>
              </a:defRPr>
            </a:pPr>
            <a:r>
              <a:rPr sz="1500" b="0">
                <a:solidFill>
                  <a:srgbClr val="566B75"/>
                </a:solidFill>
                <a:latin typeface="Helvetica Neue"/>
                <a:ea typeface="Helvetica Neue"/>
                <a:cs typeface="Helvetica Neue"/>
              </a:rPr>
              <a:t>Best checkpoint: validation patient Dice. Fixed threshold: 0.5. Test set used for final scoring.</a:t>
            </a:r>
          </a:p>
        </p:txBody>
      </p:sp>
    </p:spTree>
    <p:extLst>
      <p:ext uri="{BB962C8B-B14F-4D97-AF65-F5344CB8AC3E}">
        <p14:creationId xmlns:p14="http://schemas.microsoft.com/office/powerpoint/2010/main" val="4673231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5887B4-258C-430E-8001-AAD758E60774}"/>
              </a:ext>
            </a:extLst>
          </p:cNvPr>
          <p:cNvSpPr>
            <a:spLocks xmlns:a="http://schemas.openxmlformats.org/drawingml/2006/main" noGrp="1"/>
          </p:cNvSpPr>
          <p:nvPr/>
        </p:nvSpPr>
        <p:spPr>
          <a:xfrm xmlns:a="http://schemas.openxmlformats.org/drawingml/2006/main">
            <a:off x="609600" y="419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A38"/>
                </a:solidFill>
                <a:latin typeface="Helvetica Neue"/>
                <a:ea typeface="Helvetica Neue"/>
                <a:cs typeface="Helvetica Neue"/>
              </a:defRPr>
            </a:pPr>
            <a:r>
              <a:rPr sz="3300" b="1">
                <a:solidFill>
                  <a:srgbClr val="142A38"/>
                </a:solidFill>
                <a:latin typeface="Helvetica Neue"/>
                <a:ea typeface="Helvetica Neue"/>
                <a:cs typeface="Helvetica Neue"/>
              </a:rPr>
              <a:t>Held-out segmentation results</a:t>
            </a:r>
          </a:p>
        </p:txBody>
      </p:sp>
      <p:graphicFrame>
        <p:nvGraphicFramePr>
          <p:cNvPr id="7" name=""/>
          <p:cNvGraphicFramePr/>
          <p:nvPr/>
        </p:nvGraphicFramePr>
        <p:xfrm>
          <a:off xmlns:a="http://schemas.openxmlformats.org/drawingml/2006/main" x="609600" y="1552575"/>
          <a:ext xmlns:a="http://schemas.openxmlformats.org/drawingml/2006/main" cx="10972800" cy="2590800"/>
        </p:xfrm>
        <a:graphic xmlns:a="http://schemas.openxmlformats.org/drawingml/2006/main">
          <a:graphicData uri="http://schemas.openxmlformats.org/drawingml/2006/table">
            <a:tbl>
              <a:tblPr/>
              <a:tblGrid>
                <a:gridCol w="3486150"/>
                <a:gridCol w="2495550"/>
                <a:gridCol w="2495550"/>
                <a:gridCol w="2495550"/>
              </a:tblGrid>
              <a:tr h="647700">
                <a:tc>
                  <a:txBody>
                    <a:bodyPr/>
                    <a:lstStyle/>
                    <a:p>
                      <a:r>
                        <a:rPr sz="2025" b="1">
                          <a:solidFill>
                            <a:srgbClr val="FFFFFF"/>
                          </a:solidFill>
                          <a:latin typeface="Helvetica Neue"/>
                          <a:ea typeface="Helvetica Neue"/>
                          <a:cs typeface="Helvetica Neue"/>
                        </a:rPr>
                        <a:t>Model</a:t>
                      </a:r>
                    </a:p>
                  </a:txBody>
                  <a:tcPr marL="133350" marR="114300" marT="114300" marB="95250" anchor="ctr">
                    <a:solidFill>
                      <a:srgbClr val="142A38"/>
                    </a:solidFill>
                  </a:tcPr>
                </a:tc>
                <a:tc>
                  <a:txBody>
                    <a:bodyPr/>
                    <a:lstStyle/>
                    <a:p>
                      <a:r>
                        <a:rPr sz="2025" b="1">
                          <a:solidFill>
                            <a:srgbClr val="FFFFFF"/>
                          </a:solidFill>
                          <a:latin typeface="Helvetica Neue"/>
                          <a:ea typeface="Helvetica Neue"/>
                          <a:cs typeface="Helvetica Neue"/>
                        </a:rPr>
                        <a:t>Patient Dice</a:t>
                      </a:r>
                    </a:p>
                  </a:txBody>
                  <a:tcPr marL="133350" marR="114300" marT="114300" marB="95250" anchor="ctr">
                    <a:solidFill>
                      <a:srgbClr val="142A38"/>
                    </a:solidFill>
                  </a:tcPr>
                </a:tc>
                <a:tc>
                  <a:txBody>
                    <a:bodyPr/>
                    <a:lstStyle/>
                    <a:p>
                      <a:r>
                        <a:rPr sz="2025" b="1">
                          <a:solidFill>
                            <a:srgbClr val="FFFFFF"/>
                          </a:solidFill>
                          <a:latin typeface="Helvetica Neue"/>
                          <a:ea typeface="Helvetica Neue"/>
                          <a:cs typeface="Helvetica Neue"/>
                        </a:rPr>
                        <a:t>Patient IoU</a:t>
                      </a:r>
                    </a:p>
                  </a:txBody>
                  <a:tcPr marL="133350" marR="114300" marT="114300" marB="95250" anchor="ctr">
                    <a:solidFill>
                      <a:srgbClr val="142A38"/>
                    </a:solidFill>
                  </a:tcPr>
                </a:tc>
                <a:tc>
                  <a:txBody>
                    <a:bodyPr/>
                    <a:lstStyle/>
                    <a:p>
                      <a:r>
                        <a:rPr sz="2025" b="1">
                          <a:solidFill>
                            <a:srgbClr val="FFFFFF"/>
                          </a:solidFill>
                          <a:latin typeface="Helvetica Neue"/>
                          <a:ea typeface="Helvetica Neue"/>
                          <a:cs typeface="Helvetica Neue"/>
                        </a:rPr>
                        <a:t>Boundary F1</a:t>
                      </a:r>
                    </a:p>
                  </a:txBody>
                  <a:tcPr marL="133350" marR="114300" marT="114300" marB="95250" anchor="ctr">
                    <a:solidFill>
                      <a:srgbClr val="142A38"/>
                    </a:solidFill>
                  </a:tcPr>
                </a:tc>
              </a:tr>
              <a:tr h="647700">
                <a:tc>
                  <a:txBody>
                    <a:bodyPr/>
                    <a:lstStyle/>
                    <a:p>
                      <a:r>
                        <a:rPr sz="2025" b="0">
                          <a:solidFill>
                            <a:srgbClr val="142A38"/>
                          </a:solidFill>
                          <a:latin typeface="Helvetica Neue"/>
                          <a:ea typeface="Helvetica Neue"/>
                          <a:cs typeface="Helvetica Neue"/>
                        </a:rPr>
                        <a:t>Compact U-Net</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59.79%</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49.82%</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60.71%</a:t>
                      </a:r>
                    </a:p>
                  </a:txBody>
                  <a:tcPr marL="133350" marR="114300" marT="114300" marB="95250" anchor="ctr">
                    <a:solidFill>
                      <a:srgbClr val="F7FAFA"/>
                    </a:solidFill>
                  </a:tcPr>
                </a:tc>
              </a:tr>
              <a:tr h="647700">
                <a:tc>
                  <a:txBody>
                    <a:bodyPr/>
                    <a:lstStyle/>
                    <a:p>
                      <a:r>
                        <a:rPr sz="2025" b="0">
                          <a:solidFill>
                            <a:srgbClr val="142A38"/>
                          </a:solidFill>
                          <a:latin typeface="Helvetica Neue"/>
                          <a:ea typeface="Helvetica Neue"/>
                          <a:cs typeface="Helvetica Neue"/>
                        </a:rPr>
                        <a:t>SoftROI</a:t>
                      </a:r>
                    </a:p>
                  </a:txBody>
                  <a:tcPr marL="133350" marR="114300" marT="114300" marB="95250" anchor="ctr">
                    <a:solidFill>
                      <a:srgbClr val="FFFFFF"/>
                    </a:solidFill>
                  </a:tcPr>
                </a:tc>
                <a:tc>
                  <a:txBody>
                    <a:bodyPr/>
                    <a:lstStyle/>
                    <a:p>
                      <a:r>
                        <a:rPr sz="2025" b="0">
                          <a:solidFill>
                            <a:srgbClr val="142A38"/>
                          </a:solidFill>
                          <a:latin typeface="Helvetica Neue"/>
                          <a:ea typeface="Helvetica Neue"/>
                          <a:cs typeface="Helvetica Neue"/>
                        </a:rPr>
                        <a:t>61.97%</a:t>
                      </a:r>
                    </a:p>
                  </a:txBody>
                  <a:tcPr marL="133350" marR="114300" marT="114300" marB="95250" anchor="ctr">
                    <a:solidFill>
                      <a:srgbClr val="FFFFFF"/>
                    </a:solidFill>
                  </a:tcPr>
                </a:tc>
                <a:tc>
                  <a:txBody>
                    <a:bodyPr/>
                    <a:lstStyle/>
                    <a:p>
                      <a:r>
                        <a:rPr sz="2025" b="0">
                          <a:solidFill>
                            <a:srgbClr val="142A38"/>
                          </a:solidFill>
                          <a:latin typeface="Helvetica Neue"/>
                          <a:ea typeface="Helvetica Neue"/>
                          <a:cs typeface="Helvetica Neue"/>
                        </a:rPr>
                        <a:t>52.04%</a:t>
                      </a:r>
                    </a:p>
                  </a:txBody>
                  <a:tcPr marL="133350" marR="114300" marT="114300" marB="95250" anchor="ctr">
                    <a:solidFill>
                      <a:srgbClr val="FFFFFF"/>
                    </a:solidFill>
                  </a:tcPr>
                </a:tc>
                <a:tc>
                  <a:txBody>
                    <a:bodyPr/>
                    <a:lstStyle/>
                    <a:p>
                      <a:r>
                        <a:rPr sz="2025" b="0">
                          <a:solidFill>
                            <a:srgbClr val="142A38"/>
                          </a:solidFill>
                          <a:latin typeface="Helvetica Neue"/>
                          <a:ea typeface="Helvetica Neue"/>
                          <a:cs typeface="Helvetica Neue"/>
                        </a:rPr>
                        <a:t>62.73%</a:t>
                      </a:r>
                    </a:p>
                  </a:txBody>
                  <a:tcPr marL="133350" marR="114300" marT="114300" marB="95250" anchor="ctr">
                    <a:solidFill>
                      <a:srgbClr val="FFFFFF"/>
                    </a:solidFill>
                  </a:tcPr>
                </a:tc>
              </a:tr>
              <a:tr h="647700">
                <a:tc>
                  <a:txBody>
                    <a:bodyPr/>
                    <a:lstStyle/>
                    <a:p>
                      <a:r>
                        <a:rPr sz="2025" b="0">
                          <a:solidFill>
                            <a:srgbClr val="142A38"/>
                          </a:solidFill>
                          <a:latin typeface="Helvetica Neue"/>
                          <a:ea typeface="Helvetica Neue"/>
                          <a:cs typeface="Helvetica Neue"/>
                        </a:rPr>
                        <a:t>SRB-U-Net</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63.17%</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53.76%</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65.79%</a:t>
                      </a:r>
                    </a:p>
                  </a:txBody>
                  <a:tcPr marL="133350" marR="114300" marT="114300" marB="95250" anchor="ctr">
                    <a:solidFill>
                      <a:srgbClr val="F7FAFA"/>
                    </a:solidFill>
                  </a:tcPr>
                </a:tc>
              </a:tr>
            </a:tbl>
          </a:graphicData>
        </a:graphic>
      </p:graphicFrame>
      <p:sp>
        <p:nvSpPr>
          <p:cNvPr id="3" name="">
            <a:extLst xmlns:a="http://schemas.openxmlformats.org/drawingml/2006/main">
              <a:ext uri="{FF2B5EF4-FFF2-40B4-BE49-F238E27FC236}">
                <a16:creationId xmlns:a16="http://schemas.microsoft.com/office/drawing/2014/main" id="{BC23FCF6-2ED8-42D3-8FC3-8E19FAE81EAB}"/>
              </a:ext>
            </a:extLst>
          </p:cNvPr>
          <p:cNvSpPr>
            <a:spLocks xmlns:a="http://schemas.openxmlformats.org/drawingml/2006/main" noGrp="1"/>
          </p:cNvSpPr>
          <p:nvPr/>
        </p:nvSpPr>
        <p:spPr>
          <a:xfrm xmlns:a="http://schemas.openxmlformats.org/drawingml/2006/main">
            <a:off x="609600" y="46101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08879"/>
                </a:solidFill>
                <a:latin typeface="Helvetica Neue"/>
                <a:ea typeface="Helvetica Neue"/>
                <a:cs typeface="Helvetica Neue"/>
              </a:defRPr>
            </a:pPr>
            <a:r>
              <a:rPr sz="3075" b="1">
                <a:solidFill>
                  <a:srgbClr val="008879"/>
                </a:solidFill>
                <a:latin typeface="Helvetica Neue"/>
                <a:ea typeface="Helvetica Neue"/>
                <a:cs typeface="Helvetica Neue"/>
              </a:rPr>
              <a:t>+3.38 percentage points</a:t>
            </a:r>
          </a:p>
        </p:txBody>
      </p:sp>
      <p:sp>
        <p:nvSpPr>
          <p:cNvPr id="4" name="">
            <a:extLst xmlns:a="http://schemas.openxmlformats.org/drawingml/2006/main">
              <a:ext uri="{FF2B5EF4-FFF2-40B4-BE49-F238E27FC236}">
                <a16:creationId xmlns:a16="http://schemas.microsoft.com/office/drawing/2014/main" id="{88895492-FA72-4290-B9CF-700F242136DF}"/>
              </a:ext>
            </a:extLst>
          </p:cNvPr>
          <p:cNvSpPr>
            <a:spLocks xmlns:a="http://schemas.openxmlformats.org/drawingml/2006/main" noGrp="1"/>
          </p:cNvSpPr>
          <p:nvPr/>
        </p:nvSpPr>
        <p:spPr>
          <a:xfrm xmlns:a="http://schemas.openxmlformats.org/drawingml/2006/main">
            <a:off x="628650" y="5276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A38"/>
                </a:solidFill>
                <a:latin typeface="Helvetica Neue"/>
                <a:ea typeface="Helvetica Neue"/>
                <a:cs typeface="Helvetica Neue"/>
              </a:defRPr>
            </a:pPr>
            <a:r>
              <a:rPr sz="1875" b="0">
                <a:solidFill>
                  <a:srgbClr val="142A38"/>
                </a:solidFill>
                <a:latin typeface="Helvetica Neue"/>
                <a:ea typeface="Helvetica Neue"/>
                <a:cs typeface="Helvetica Neue"/>
              </a:rPr>
              <a:t>SRB minus baseline in patient Dice. 95% paired interval: [-0.18, +6.74] points.</a:t>
            </a:r>
          </a:p>
        </p:txBody>
      </p:sp>
      <p:sp>
        <p:nvSpPr>
          <p:cNvPr id="5" name="">
            <a:extLst xmlns:a="http://schemas.openxmlformats.org/drawingml/2006/main">
              <a:ext uri="{FF2B5EF4-FFF2-40B4-BE49-F238E27FC236}">
                <a16:creationId xmlns:a16="http://schemas.microsoft.com/office/drawing/2014/main" id="{19A90275-42A8-42F8-930E-CF27935D3008}"/>
              </a:ext>
            </a:extLst>
          </p:cNvPr>
          <p:cNvSpPr>
            <a:spLocks xmlns:a="http://schemas.openxmlformats.org/drawingml/2006/main" noGrp="1"/>
          </p:cNvSpPr>
          <p:nvPr/>
        </p:nvSpPr>
        <p:spPr>
          <a:xfrm xmlns:a="http://schemas.openxmlformats.org/drawingml/2006/main">
            <a:off x="609600" y="60960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B75"/>
                </a:solidFill>
                <a:latin typeface="Helvetica Neue"/>
                <a:ea typeface="Helvetica Neue"/>
                <a:cs typeface="Helvetica Neue"/>
              </a:defRPr>
            </a:pPr>
            <a:r>
              <a:rPr sz="1500" b="0">
                <a:solidFill>
                  <a:srgbClr val="566B75"/>
                </a:solidFill>
                <a:latin typeface="Helvetica Neue"/>
                <a:ea typeface="Helvetica Neue"/>
                <a:cs typeface="Helvetica Neue"/>
              </a:rPr>
              <a:t>Preliminary result on 15 test patients. Paper benchmark values are not directly comparable.</a:t>
            </a:r>
          </a:p>
        </p:txBody>
      </p:sp>
    </p:spTree>
    <p:extLst>
      <p:ext uri="{BB962C8B-B14F-4D97-AF65-F5344CB8AC3E}">
        <p14:creationId xmlns:p14="http://schemas.microsoft.com/office/powerpoint/2010/main" val="13662089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2C9DE5-2DC2-4496-A0CE-68F003FE229A}"/>
              </a:ext>
            </a:extLst>
          </p:cNvPr>
          <p:cNvSpPr>
            <a:spLocks xmlns:a="http://schemas.openxmlformats.org/drawingml/2006/main" noGrp="1"/>
          </p:cNvSpPr>
          <p:nvPr/>
        </p:nvSpPr>
        <p:spPr>
          <a:xfrm xmlns:a="http://schemas.openxmlformats.org/drawingml/2006/main">
            <a:off x="609600" y="419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A38"/>
                </a:solidFill>
                <a:latin typeface="Helvetica Neue"/>
                <a:ea typeface="Helvetica Neue"/>
                <a:cs typeface="Helvetica Neue"/>
              </a:defRPr>
            </a:pPr>
            <a:r>
              <a:rPr sz="3300" b="1">
                <a:solidFill>
                  <a:srgbClr val="142A38"/>
                </a:solidFill>
                <a:latin typeface="Helvetica Neue"/>
                <a:ea typeface="Helvetica Neue"/>
                <a:cs typeface="Helvetica Neue"/>
              </a:rPr>
              <a:t>Ablation and repeatability</a:t>
            </a:r>
          </a:p>
        </p:txBody>
      </p:sp>
      <p:graphicFrame>
        <p:nvGraphicFramePr>
          <p:cNvPr id="6" name=""/>
          <p:cNvGraphicFramePr/>
          <p:nvPr/>
        </p:nvGraphicFramePr>
        <p:xfrm>
          <a:off xmlns:a="http://schemas.openxmlformats.org/drawingml/2006/main" x="609600" y="1476375"/>
          <a:ext xmlns:a="http://schemas.openxmlformats.org/drawingml/2006/main" cx="10972800" cy="2590800"/>
        </p:xfrm>
        <a:graphic xmlns:a="http://schemas.openxmlformats.org/drawingml/2006/main">
          <a:graphicData uri="http://schemas.openxmlformats.org/drawingml/2006/table">
            <a:tbl>
              <a:tblPr/>
              <a:tblGrid>
                <a:gridCol w="3486150"/>
                <a:gridCol w="2495550"/>
                <a:gridCol w="2495550"/>
                <a:gridCol w="2495550"/>
              </a:tblGrid>
              <a:tr h="647700">
                <a:tc>
                  <a:txBody>
                    <a:bodyPr/>
                    <a:lstStyle/>
                    <a:p>
                      <a:r>
                        <a:rPr sz="2025" b="1">
                          <a:solidFill>
                            <a:srgbClr val="FFFFFF"/>
                          </a:solidFill>
                          <a:latin typeface="Helvetica Neue"/>
                          <a:ea typeface="Helvetica Neue"/>
                          <a:cs typeface="Helvetica Neue"/>
                        </a:rPr>
                        <a:t>Model</a:t>
                      </a:r>
                    </a:p>
                  </a:txBody>
                  <a:tcPr marL="133350" marR="114300" marT="114300" marB="95250" anchor="ctr">
                    <a:solidFill>
                      <a:srgbClr val="142A38"/>
                    </a:solidFill>
                  </a:tcPr>
                </a:tc>
                <a:tc>
                  <a:txBody>
                    <a:bodyPr/>
                    <a:lstStyle/>
                    <a:p>
                      <a:r>
                        <a:rPr sz="2025" b="1">
                          <a:solidFill>
                            <a:srgbClr val="FFFFFF"/>
                          </a:solidFill>
                          <a:latin typeface="Helvetica Neue"/>
                          <a:ea typeface="Helvetica Neue"/>
                          <a:cs typeface="Helvetica Neue"/>
                        </a:rPr>
                        <a:t>Seed 17 Dice</a:t>
                      </a:r>
                    </a:p>
                  </a:txBody>
                  <a:tcPr marL="133350" marR="114300" marT="114300" marB="95250" anchor="ctr">
                    <a:solidFill>
                      <a:srgbClr val="142A38"/>
                    </a:solidFill>
                  </a:tcPr>
                </a:tc>
                <a:tc>
                  <a:txBody>
                    <a:bodyPr/>
                    <a:lstStyle/>
                    <a:p>
                      <a:r>
                        <a:rPr sz="2025" b="1">
                          <a:solidFill>
                            <a:srgbClr val="FFFFFF"/>
                          </a:solidFill>
                          <a:latin typeface="Helvetica Neue"/>
                          <a:ea typeface="Helvetica Neue"/>
                          <a:cs typeface="Helvetica Neue"/>
                        </a:rPr>
                        <a:t>Seed 29 Dice</a:t>
                      </a:r>
                    </a:p>
                  </a:txBody>
                  <a:tcPr marL="133350" marR="114300" marT="114300" marB="95250" anchor="ctr">
                    <a:solidFill>
                      <a:srgbClr val="142A38"/>
                    </a:solidFill>
                  </a:tcPr>
                </a:tc>
                <a:tc>
                  <a:txBody>
                    <a:bodyPr/>
                    <a:lstStyle/>
                    <a:p>
                      <a:r>
                        <a:rPr sz="2025" b="1">
                          <a:solidFill>
                            <a:srgbClr val="FFFFFF"/>
                          </a:solidFill>
                          <a:latin typeface="Helvetica Neue"/>
                          <a:ea typeface="Helvetica Neue"/>
                          <a:cs typeface="Helvetica Neue"/>
                        </a:rPr>
                        <a:t>Parameters</a:t>
                      </a:r>
                    </a:p>
                  </a:txBody>
                  <a:tcPr marL="133350" marR="114300" marT="114300" marB="95250" anchor="ctr">
                    <a:solidFill>
                      <a:srgbClr val="142A38"/>
                    </a:solidFill>
                  </a:tcPr>
                </a:tc>
              </a:tr>
              <a:tr h="647700">
                <a:tc>
                  <a:txBody>
                    <a:bodyPr/>
                    <a:lstStyle/>
                    <a:p>
                      <a:r>
                        <a:rPr sz="2025" b="0">
                          <a:solidFill>
                            <a:srgbClr val="142A38"/>
                          </a:solidFill>
                          <a:latin typeface="Helvetica Neue"/>
                          <a:ea typeface="Helvetica Neue"/>
                          <a:cs typeface="Helvetica Neue"/>
                        </a:rPr>
                        <a:t>Compact U-Net</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59.80%</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59.78%</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488,100</a:t>
                      </a:r>
                    </a:p>
                  </a:txBody>
                  <a:tcPr marL="133350" marR="114300" marT="114300" marB="95250" anchor="ctr">
                    <a:solidFill>
                      <a:srgbClr val="F7FAFA"/>
                    </a:solidFill>
                  </a:tcPr>
                </a:tc>
              </a:tr>
              <a:tr h="647700">
                <a:tc>
                  <a:txBody>
                    <a:bodyPr/>
                    <a:lstStyle/>
                    <a:p>
                      <a:r>
                        <a:rPr sz="2025" b="0">
                          <a:solidFill>
                            <a:srgbClr val="142A38"/>
                          </a:solidFill>
                          <a:latin typeface="Helvetica Neue"/>
                          <a:ea typeface="Helvetica Neue"/>
                          <a:cs typeface="Helvetica Neue"/>
                        </a:rPr>
                        <a:t>SoftROI</a:t>
                      </a:r>
                    </a:p>
                  </a:txBody>
                  <a:tcPr marL="133350" marR="114300" marT="114300" marB="95250" anchor="ctr">
                    <a:solidFill>
                      <a:srgbClr val="FFFFFF"/>
                    </a:solidFill>
                  </a:tcPr>
                </a:tc>
                <a:tc>
                  <a:txBody>
                    <a:bodyPr/>
                    <a:lstStyle/>
                    <a:p>
                      <a:r>
                        <a:rPr sz="2025" b="0">
                          <a:solidFill>
                            <a:srgbClr val="142A38"/>
                          </a:solidFill>
                          <a:latin typeface="Helvetica Neue"/>
                          <a:ea typeface="Helvetica Neue"/>
                          <a:cs typeface="Helvetica Neue"/>
                        </a:rPr>
                        <a:t>59.59%</a:t>
                      </a:r>
                    </a:p>
                  </a:txBody>
                  <a:tcPr marL="133350" marR="114300" marT="114300" marB="95250" anchor="ctr">
                    <a:solidFill>
                      <a:srgbClr val="FFFFFF"/>
                    </a:solidFill>
                  </a:tcPr>
                </a:tc>
                <a:tc>
                  <a:txBody>
                    <a:bodyPr/>
                    <a:lstStyle/>
                    <a:p>
                      <a:r>
                        <a:rPr sz="2025" b="0">
                          <a:solidFill>
                            <a:srgbClr val="142A38"/>
                          </a:solidFill>
                          <a:latin typeface="Helvetica Neue"/>
                          <a:ea typeface="Helvetica Neue"/>
                          <a:cs typeface="Helvetica Neue"/>
                        </a:rPr>
                        <a:t>64.36%</a:t>
                      </a:r>
                    </a:p>
                  </a:txBody>
                  <a:tcPr marL="133350" marR="114300" marT="114300" marB="95250" anchor="ctr">
                    <a:solidFill>
                      <a:srgbClr val="FFFFFF"/>
                    </a:solidFill>
                  </a:tcPr>
                </a:tc>
                <a:tc>
                  <a:txBody>
                    <a:bodyPr/>
                    <a:lstStyle/>
                    <a:p>
                      <a:r>
                        <a:rPr sz="2025" b="0">
                          <a:solidFill>
                            <a:srgbClr val="142A38"/>
                          </a:solidFill>
                          <a:latin typeface="Helvetica Neue"/>
                          <a:ea typeface="Helvetica Neue"/>
                          <a:cs typeface="Helvetica Neue"/>
                        </a:rPr>
                        <a:t>488,229</a:t>
                      </a:r>
                    </a:p>
                  </a:txBody>
                  <a:tcPr marL="133350" marR="114300" marT="114300" marB="95250" anchor="ctr">
                    <a:solidFill>
                      <a:srgbClr val="FFFFFF"/>
                    </a:solidFill>
                  </a:tcPr>
                </a:tc>
              </a:tr>
              <a:tr h="647700">
                <a:tc>
                  <a:txBody>
                    <a:bodyPr/>
                    <a:lstStyle/>
                    <a:p>
                      <a:r>
                        <a:rPr sz="2025" b="0">
                          <a:solidFill>
                            <a:srgbClr val="142A38"/>
                          </a:solidFill>
                          <a:latin typeface="Helvetica Neue"/>
                          <a:ea typeface="Helvetica Neue"/>
                          <a:cs typeface="Helvetica Neue"/>
                        </a:rPr>
                        <a:t>SRB-U-Net</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63.29%</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63.04%</a:t>
                      </a:r>
                    </a:p>
                  </a:txBody>
                  <a:tcPr marL="133350" marR="114300" marT="114300" marB="95250" anchor="ctr">
                    <a:solidFill>
                      <a:srgbClr val="F7FAFA"/>
                    </a:solidFill>
                  </a:tcPr>
                </a:tc>
                <a:tc>
                  <a:txBody>
                    <a:bodyPr/>
                    <a:lstStyle/>
                    <a:p>
                      <a:r>
                        <a:rPr sz="2025" b="0">
                          <a:solidFill>
                            <a:srgbClr val="142A38"/>
                          </a:solidFill>
                          <a:latin typeface="Helvetica Neue"/>
                          <a:ea typeface="Helvetica Neue"/>
                          <a:cs typeface="Helvetica Neue"/>
                        </a:rPr>
                        <a:t>492,167</a:t>
                      </a:r>
                    </a:p>
                  </a:txBody>
                  <a:tcPr marL="133350" marR="114300" marT="114300" marB="95250" anchor="ctr">
                    <a:solidFill>
                      <a:srgbClr val="F7FAFA"/>
                    </a:solidFill>
                  </a:tcPr>
                </a:tc>
              </a:tr>
            </a:tbl>
          </a:graphicData>
        </a:graphic>
      </p:graphicFrame>
      <p:sp>
        <p:nvSpPr>
          <p:cNvPr id="3" name="">
            <a:extLst xmlns:a="http://schemas.openxmlformats.org/drawingml/2006/main">
              <a:ext uri="{FF2B5EF4-FFF2-40B4-BE49-F238E27FC236}">
                <a16:creationId xmlns:a16="http://schemas.microsoft.com/office/drawing/2014/main" id="{0C30AD43-1C82-41EE-A6A1-060E8DE011C7}"/>
              </a:ext>
            </a:extLst>
          </p:cNvPr>
          <p:cNvSpPr>
            <a:spLocks xmlns:a="http://schemas.openxmlformats.org/drawingml/2006/main" noGrp="1"/>
          </p:cNvSpPr>
          <p:nvPr/>
        </p:nvSpPr>
        <p:spPr>
          <a:xfrm xmlns:a="http://schemas.openxmlformats.org/drawingml/2006/main">
            <a:off x="609600" y="4448175"/>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Adding region guidance: +2.18 points in patient Dice.</a:t>
            </a:r>
          </a:p>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Adding boundary/refinement: +1.19 points beyond SoftROI.</a:t>
            </a:r>
          </a:p>
        </p:txBody>
      </p:sp>
      <p:sp>
        <p:nvSpPr>
          <p:cNvPr id="4" name="">
            <a:extLst xmlns:a="http://schemas.openxmlformats.org/drawingml/2006/main">
              <a:ext uri="{FF2B5EF4-FFF2-40B4-BE49-F238E27FC236}">
                <a16:creationId xmlns:a16="http://schemas.microsoft.com/office/drawing/2014/main" id="{CA39D429-0163-40A0-A332-8DFEE24F3663}"/>
              </a:ext>
            </a:extLst>
          </p:cNvPr>
          <p:cNvSpPr>
            <a:spLocks xmlns:a="http://schemas.openxmlformats.org/drawingml/2006/main" noGrp="1"/>
          </p:cNvSpPr>
          <p:nvPr/>
        </p:nvSpPr>
        <p:spPr>
          <a:xfrm xmlns:a="http://schemas.openxmlformats.org/drawingml/2006/main">
            <a:off x="609600" y="60960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B75"/>
                </a:solidFill>
                <a:latin typeface="Helvetica Neue"/>
                <a:ea typeface="Helvetica Neue"/>
                <a:cs typeface="Helvetica Neue"/>
              </a:defRPr>
            </a:pPr>
            <a:r>
              <a:rPr sz="1500" b="0">
                <a:solidFill>
                  <a:srgbClr val="566B75"/>
                </a:solidFill>
                <a:latin typeface="Helvetica Neue"/>
                <a:ea typeface="Helvetica Neue"/>
                <a:cs typeface="Helvetica Neue"/>
              </a:rPr>
              <a:t>The current ablation tests modules plus their losses. A finer ablation is the next step.</a:t>
            </a:r>
          </a:p>
        </p:txBody>
      </p:sp>
    </p:spTree>
    <p:extLst>
      <p:ext uri="{BB962C8B-B14F-4D97-AF65-F5344CB8AC3E}">
        <p14:creationId xmlns:p14="http://schemas.microsoft.com/office/powerpoint/2010/main" val="885920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C7FD270-80CC-4D11-A662-64669D891D69}"/>
              </a:ext>
            </a:extLst>
          </p:cNvPr>
          <p:cNvSpPr>
            <a:spLocks xmlns:a="http://schemas.openxmlformats.org/drawingml/2006/main" noGrp="1"/>
          </p:cNvSpPr>
          <p:nvPr/>
        </p:nvSpPr>
        <p:spPr>
          <a:xfrm xmlns:a="http://schemas.openxmlformats.org/drawingml/2006/main">
            <a:off x="609600" y="419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A38"/>
                </a:solidFill>
                <a:latin typeface="Helvetica Neue"/>
                <a:ea typeface="Helvetica Neue"/>
                <a:cs typeface="Helvetica Neue"/>
              </a:defRPr>
            </a:pPr>
            <a:r>
              <a:rPr sz="3300" b="1">
                <a:solidFill>
                  <a:srgbClr val="142A38"/>
                </a:solidFill>
                <a:latin typeface="Helvetica Neue"/>
                <a:ea typeface="Helvetica Neue"/>
                <a:cs typeface="Helvetica Neue"/>
              </a:rPr>
              <a:t>Validation learning curves</a:t>
            </a:r>
          </a:p>
        </p:txBody>
      </p:sp>
      <p:graphicFrame>
        <p:nvGraphicFramePr>
          <p:cNvPr id="5" name="Chart"/>
          <p:cNvGraphicFramePr/>
          <p:nvPr/>
        </p:nvGraphicFramePr>
        <p:xfrm>
          <a:off xmlns:a="http://schemas.openxmlformats.org/drawingml/2006/main" x="571500" y="1400175"/>
          <a:ext xmlns:a="http://schemas.openxmlformats.org/drawingml/2006/main" cx="10953750" cy="4400550"/>
        </p:xfrm>
        <a:graphic xmlns:a="http://schemas.openxmlformats.org/drawingml/2006/main">
          <a:graphicData uri="http://schemas.openxmlformats.org/drawingml/2006/chart">
            <c:chart xmlns:r="http://schemas.openxmlformats.org/officeDocument/2006/relationships" xmlns:c="http://schemas.openxmlformats.org/drawingml/2006/chart" r:id="R8ce2a5a817ab4c82"/>
          </a:graphicData>
        </a:graphic>
      </p:graphicFrame>
      <p:sp>
        <p:nvSpPr>
          <p:cNvPr id="3" name="">
            <a:extLst xmlns:a="http://schemas.openxmlformats.org/drawingml/2006/main">
              <a:ext uri="{FF2B5EF4-FFF2-40B4-BE49-F238E27FC236}">
                <a16:creationId xmlns:a16="http://schemas.microsoft.com/office/drawing/2014/main" id="{FE9E7BD9-2A23-4814-A5B7-16CF03774148}"/>
              </a:ext>
            </a:extLst>
          </p:cNvPr>
          <p:cNvSpPr>
            <a:spLocks xmlns:a="http://schemas.openxmlformats.org/drawingml/2006/main" noGrp="1"/>
          </p:cNvSpPr>
          <p:nvPr/>
        </p:nvSpPr>
        <p:spPr>
          <a:xfrm xmlns:a="http://schemas.openxmlformats.org/drawingml/2006/main">
            <a:off x="609600" y="60960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B75"/>
                </a:solidFill>
                <a:latin typeface="Helvetica Neue"/>
                <a:ea typeface="Helvetica Neue"/>
                <a:cs typeface="Helvetica Neue"/>
              </a:defRPr>
            </a:pPr>
            <a:r>
              <a:rPr sz="1500" b="0">
                <a:solidFill>
                  <a:srgbClr val="566B75"/>
                </a:solidFill>
                <a:latin typeface="Helvetica Neue"/>
                <a:ea typeface="Helvetica Neue"/>
                <a:cs typeface="Helvetica Neue"/>
              </a:rPr>
              <a:t>Each curve averages two seeds. The training budget and checkpoint rule are the same for all variants.</a:t>
            </a:r>
          </a:p>
        </p:txBody>
      </p:sp>
    </p:spTree>
    <p:extLst>
      <p:ext uri="{BB962C8B-B14F-4D97-AF65-F5344CB8AC3E}">
        <p14:creationId xmlns:p14="http://schemas.microsoft.com/office/powerpoint/2010/main" val="16904717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67CD5D8-1097-4EBC-ACDE-AFEE4188405B}"/>
              </a:ext>
            </a:extLst>
          </p:cNvPr>
          <p:cNvSpPr>
            <a:spLocks xmlns:a="http://schemas.openxmlformats.org/drawingml/2006/main" noGrp="1"/>
          </p:cNvSpPr>
          <p:nvPr/>
        </p:nvSpPr>
        <p:spPr>
          <a:xfrm xmlns:a="http://schemas.openxmlformats.org/drawingml/2006/main">
            <a:off x="609600" y="419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A38"/>
                </a:solidFill>
                <a:latin typeface="Helvetica Neue"/>
                <a:ea typeface="Helvetica Neue"/>
                <a:cs typeface="Helvetica Neue"/>
              </a:defRPr>
            </a:pPr>
            <a:r>
              <a:rPr sz="3300" b="1">
                <a:solidFill>
                  <a:srgbClr val="142A38"/>
                </a:solidFill>
                <a:latin typeface="Helvetica Neue"/>
                <a:ea typeface="Helvetica Neue"/>
                <a:cs typeface="Helvetica Neue"/>
              </a:rPr>
              <a:t>Qualitative test examples</a:t>
            </a:r>
          </a:p>
        </p:txBody>
      </p:sp>
      <p:sp>
        <p:nvSpPr>
          <p:cNvPr id="2" name="">
            <a:extLst xmlns:a="http://schemas.openxmlformats.org/drawingml/2006/main">
              <a:ext uri="{FF2B5EF4-FFF2-40B4-BE49-F238E27FC236}">
                <a16:creationId xmlns:a16="http://schemas.microsoft.com/office/drawing/2014/main" id="{085523CD-FB01-4870-B168-71FD492778A6}"/>
              </a:ext>
            </a:extLst>
          </p:cNvPr>
          <p:cNvSpPr>
            <a:spLocks xmlns:a="http://schemas.openxmlformats.org/drawingml/2006/main" noGrp="1"/>
          </p:cNvSpPr>
          <p:nvPr/>
        </p:nvSpPr>
        <p:spPr>
          <a:xfrm xmlns:a="http://schemas.openxmlformats.org/drawingml/2006/main">
            <a:off x="2457450" y="1266825"/>
            <a:ext cx="2124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A38"/>
                </a:solidFill>
                <a:latin typeface="Helvetica Neue"/>
                <a:ea typeface="Helvetica Neue"/>
                <a:cs typeface="Helvetica Neue"/>
              </a:defRPr>
            </a:pPr>
            <a:r>
              <a:rPr sz="1800" b="1">
                <a:solidFill>
                  <a:srgbClr val="142A38"/>
                </a:solidFill>
                <a:latin typeface="Helvetica Neue"/>
                <a:ea typeface="Helvetica Neue"/>
                <a:cs typeface="Helvetica Neue"/>
              </a:rPr>
              <a:t>MRI</a:t>
            </a:r>
          </a:p>
        </p:txBody>
      </p:sp>
      <p:sp>
        <p:nvSpPr>
          <p:cNvPr id="3" name="">
            <a:extLst xmlns:a="http://schemas.openxmlformats.org/drawingml/2006/main">
              <a:ext uri="{FF2B5EF4-FFF2-40B4-BE49-F238E27FC236}">
                <a16:creationId xmlns:a16="http://schemas.microsoft.com/office/drawing/2014/main" id="{728AC6BA-D57D-400F-A9E9-79D92923333D}"/>
              </a:ext>
            </a:extLst>
          </p:cNvPr>
          <p:cNvSpPr>
            <a:spLocks xmlns:a="http://schemas.openxmlformats.org/drawingml/2006/main" noGrp="1"/>
          </p:cNvSpPr>
          <p:nvPr/>
        </p:nvSpPr>
        <p:spPr>
          <a:xfrm xmlns:a="http://schemas.openxmlformats.org/drawingml/2006/main">
            <a:off x="4705350" y="1266825"/>
            <a:ext cx="2124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A38"/>
                </a:solidFill>
                <a:latin typeface="Helvetica Neue"/>
                <a:ea typeface="Helvetica Neue"/>
                <a:cs typeface="Helvetica Neue"/>
              </a:defRPr>
            </a:pPr>
            <a:r>
              <a:rPr sz="1800" b="1">
                <a:solidFill>
                  <a:srgbClr val="142A38"/>
                </a:solidFill>
                <a:latin typeface="Helvetica Neue"/>
                <a:ea typeface="Helvetica Neue"/>
                <a:cs typeface="Helvetica Neue"/>
              </a:rPr>
              <a:t>Ground truth</a:t>
            </a:r>
          </a:p>
        </p:txBody>
      </p:sp>
      <p:sp>
        <p:nvSpPr>
          <p:cNvPr id="4" name="">
            <a:extLst xmlns:a="http://schemas.openxmlformats.org/drawingml/2006/main">
              <a:ext uri="{FF2B5EF4-FFF2-40B4-BE49-F238E27FC236}">
                <a16:creationId xmlns:a16="http://schemas.microsoft.com/office/drawing/2014/main" id="{410A8599-986C-4985-B465-F404509F7EDC}"/>
              </a:ext>
            </a:extLst>
          </p:cNvPr>
          <p:cNvSpPr>
            <a:spLocks xmlns:a="http://schemas.openxmlformats.org/drawingml/2006/main" noGrp="1"/>
          </p:cNvSpPr>
          <p:nvPr/>
        </p:nvSpPr>
        <p:spPr>
          <a:xfrm xmlns:a="http://schemas.openxmlformats.org/drawingml/2006/main">
            <a:off x="6953250" y="1266825"/>
            <a:ext cx="2124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A38"/>
                </a:solidFill>
                <a:latin typeface="Helvetica Neue"/>
                <a:ea typeface="Helvetica Neue"/>
                <a:cs typeface="Helvetica Neue"/>
              </a:defRPr>
            </a:pPr>
            <a:r>
              <a:rPr sz="1800" b="1">
                <a:solidFill>
                  <a:srgbClr val="142A38"/>
                </a:solidFill>
                <a:latin typeface="Helvetica Neue"/>
                <a:ea typeface="Helvetica Neue"/>
                <a:cs typeface="Helvetica Neue"/>
              </a:rPr>
              <a:t>Compact U-Net</a:t>
            </a:r>
          </a:p>
        </p:txBody>
      </p:sp>
      <p:sp>
        <p:nvSpPr>
          <p:cNvPr id="5" name="">
            <a:extLst xmlns:a="http://schemas.openxmlformats.org/drawingml/2006/main">
              <a:ext uri="{FF2B5EF4-FFF2-40B4-BE49-F238E27FC236}">
                <a16:creationId xmlns:a16="http://schemas.microsoft.com/office/drawing/2014/main" id="{5462A6E4-4403-4FE3-9145-02E73E1CB384}"/>
              </a:ext>
            </a:extLst>
          </p:cNvPr>
          <p:cNvSpPr>
            <a:spLocks xmlns:a="http://schemas.openxmlformats.org/drawingml/2006/main" noGrp="1"/>
          </p:cNvSpPr>
          <p:nvPr/>
        </p:nvSpPr>
        <p:spPr>
          <a:xfrm xmlns:a="http://schemas.openxmlformats.org/drawingml/2006/main">
            <a:off x="9201150" y="1266825"/>
            <a:ext cx="2124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A38"/>
                </a:solidFill>
                <a:latin typeface="Helvetica Neue"/>
                <a:ea typeface="Helvetica Neue"/>
                <a:cs typeface="Helvetica Neue"/>
              </a:defRPr>
            </a:pPr>
            <a:r>
              <a:rPr sz="1800" b="1">
                <a:solidFill>
                  <a:srgbClr val="142A38"/>
                </a:solidFill>
                <a:latin typeface="Helvetica Neue"/>
                <a:ea typeface="Helvetica Neue"/>
                <a:cs typeface="Helvetica Neue"/>
              </a:rPr>
              <a:t>SRB-U-Net</a:t>
            </a:r>
          </a:p>
        </p:txBody>
      </p:sp>
      <p:sp>
        <p:nvSpPr>
          <p:cNvPr id="6" name="">
            <a:extLst xmlns:a="http://schemas.openxmlformats.org/drawingml/2006/main">
              <a:ext uri="{FF2B5EF4-FFF2-40B4-BE49-F238E27FC236}">
                <a16:creationId xmlns:a16="http://schemas.microsoft.com/office/drawing/2014/main" id="{005D2831-D138-4A94-AD46-0BBE3F895323}"/>
              </a:ext>
            </a:extLst>
          </p:cNvPr>
          <p:cNvSpPr>
            <a:spLocks xmlns:a="http://schemas.openxmlformats.org/drawingml/2006/main" noGrp="1"/>
          </p:cNvSpPr>
          <p:nvPr/>
        </p:nvSpPr>
        <p:spPr>
          <a:xfrm xmlns:a="http://schemas.openxmlformats.org/drawingml/2006/main">
            <a:off x="609600" y="209550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A38"/>
                </a:solidFill>
                <a:latin typeface="Helvetica Neue"/>
                <a:ea typeface="Helvetica Neue"/>
                <a:cs typeface="Helvetica Neue"/>
              </a:defRPr>
            </a:pPr>
            <a:r>
              <a:rPr sz="1800" b="0">
                <a:solidFill>
                  <a:srgbClr val="142A38"/>
                </a:solidFill>
                <a:latin typeface="Helvetica Neue"/>
                <a:ea typeface="Helvetica Neue"/>
                <a:cs typeface="Helvetica Neue"/>
              </a:rPr>
              <a:t>Meningioma</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b6c557f82894c63"/>
          <a:stretch xmlns:a="http://schemas.openxmlformats.org/drawingml/2006/main"/>
        </p:blipFill>
        <p:spPr>
          <a:xfrm xmlns:a="http://schemas.openxmlformats.org/drawingml/2006/main">
            <a:off x="2809875" y="1695450"/>
            <a:ext cx="1323975" cy="1323975"/>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bc8c34e1a434d65"/>
          <a:stretch xmlns:a="http://schemas.openxmlformats.org/drawingml/2006/main"/>
        </p:blipFill>
        <p:spPr>
          <a:xfrm xmlns:a="http://schemas.openxmlformats.org/drawingml/2006/main">
            <a:off x="5057775" y="1695450"/>
            <a:ext cx="1323975" cy="1323975"/>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36cc201a8614397"/>
          <a:stretch xmlns:a="http://schemas.openxmlformats.org/drawingml/2006/main"/>
        </p:blipFill>
        <p:spPr>
          <a:xfrm xmlns:a="http://schemas.openxmlformats.org/drawingml/2006/main">
            <a:off x="7305675" y="1695450"/>
            <a:ext cx="1323975" cy="1323975"/>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517ed6d89804e66"/>
          <a:stretch xmlns:a="http://schemas.openxmlformats.org/drawingml/2006/main"/>
        </p:blipFill>
        <p:spPr>
          <a:xfrm xmlns:a="http://schemas.openxmlformats.org/drawingml/2006/main">
            <a:off x="9553575" y="1695450"/>
            <a:ext cx="1323975" cy="13239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087E816-541D-43F7-8F29-323C6DB02875}"/>
              </a:ext>
            </a:extLst>
          </p:cNvPr>
          <p:cNvSpPr>
            <a:spLocks xmlns:a="http://schemas.openxmlformats.org/drawingml/2006/main" noGrp="1"/>
          </p:cNvSpPr>
          <p:nvPr/>
        </p:nvSpPr>
        <p:spPr>
          <a:xfrm xmlns:a="http://schemas.openxmlformats.org/drawingml/2006/main">
            <a:off x="609600" y="3495675"/>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A38"/>
                </a:solidFill>
                <a:latin typeface="Helvetica Neue"/>
                <a:ea typeface="Helvetica Neue"/>
                <a:cs typeface="Helvetica Neue"/>
              </a:defRPr>
            </a:pPr>
            <a:r>
              <a:rPr sz="1800" b="0">
                <a:solidFill>
                  <a:srgbClr val="142A38"/>
                </a:solidFill>
                <a:latin typeface="Helvetica Neue"/>
                <a:ea typeface="Helvetica Neue"/>
                <a:cs typeface="Helvetica Neue"/>
              </a:rPr>
              <a:t>Glioma</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2b68213cc2934f27"/>
          <a:stretch xmlns:a="http://schemas.openxmlformats.org/drawingml/2006/main"/>
        </p:blipFill>
        <p:spPr>
          <a:xfrm xmlns:a="http://schemas.openxmlformats.org/drawingml/2006/main">
            <a:off x="2809875" y="3095625"/>
            <a:ext cx="1323975" cy="132397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bc2e7a391072467b"/>
          <a:stretch xmlns:a="http://schemas.openxmlformats.org/drawingml/2006/main"/>
        </p:blipFill>
        <p:spPr>
          <a:xfrm xmlns:a="http://schemas.openxmlformats.org/drawingml/2006/main">
            <a:off x="5057775" y="3095625"/>
            <a:ext cx="1323975" cy="132397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48f6a5b5da24385"/>
          <a:stretch xmlns:a="http://schemas.openxmlformats.org/drawingml/2006/main"/>
        </p:blipFill>
        <p:spPr>
          <a:xfrm xmlns:a="http://schemas.openxmlformats.org/drawingml/2006/main">
            <a:off x="7305675" y="3095625"/>
            <a:ext cx="1323975" cy="132397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d54e49aed434066"/>
          <a:stretch xmlns:a="http://schemas.openxmlformats.org/drawingml/2006/main"/>
        </p:blipFill>
        <p:spPr>
          <a:xfrm xmlns:a="http://schemas.openxmlformats.org/drawingml/2006/main">
            <a:off x="9553575" y="3095625"/>
            <a:ext cx="1323975" cy="13239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33A8405-9D3B-4D64-9371-2D2AB57E31A1}"/>
              </a:ext>
            </a:extLst>
          </p:cNvPr>
          <p:cNvSpPr>
            <a:spLocks xmlns:a="http://schemas.openxmlformats.org/drawingml/2006/main" noGrp="1"/>
          </p:cNvSpPr>
          <p:nvPr/>
        </p:nvSpPr>
        <p:spPr>
          <a:xfrm xmlns:a="http://schemas.openxmlformats.org/drawingml/2006/main">
            <a:off x="609600" y="489585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A38"/>
                </a:solidFill>
                <a:latin typeface="Helvetica Neue"/>
                <a:ea typeface="Helvetica Neue"/>
                <a:cs typeface="Helvetica Neue"/>
              </a:defRPr>
            </a:pPr>
            <a:r>
              <a:rPr sz="1800" b="0">
                <a:solidFill>
                  <a:srgbClr val="142A38"/>
                </a:solidFill>
                <a:latin typeface="Helvetica Neue"/>
                <a:ea typeface="Helvetica Neue"/>
                <a:cs typeface="Helvetica Neue"/>
              </a:rPr>
              <a:t>Pituitary</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46dc1176ceb4113"/>
          <a:stretch xmlns:a="http://schemas.openxmlformats.org/drawingml/2006/main"/>
        </p:blipFill>
        <p:spPr>
          <a:xfrm xmlns:a="http://schemas.openxmlformats.org/drawingml/2006/main">
            <a:off x="2809875" y="4495800"/>
            <a:ext cx="1323975" cy="132397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908ddbd0ca84434"/>
          <a:stretch xmlns:a="http://schemas.openxmlformats.org/drawingml/2006/main"/>
        </p:blipFill>
        <p:spPr>
          <a:xfrm xmlns:a="http://schemas.openxmlformats.org/drawingml/2006/main">
            <a:off x="5057775" y="4495800"/>
            <a:ext cx="1323975" cy="1323975"/>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10c32a55c3941e0"/>
          <a:stretch xmlns:a="http://schemas.openxmlformats.org/drawingml/2006/main"/>
        </p:blipFill>
        <p:spPr>
          <a:xfrm xmlns:a="http://schemas.openxmlformats.org/drawingml/2006/main">
            <a:off x="7305675" y="4495800"/>
            <a:ext cx="1323975" cy="1323975"/>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ab5031434e154141"/>
          <a:stretch xmlns:a="http://schemas.openxmlformats.org/drawingml/2006/main"/>
        </p:blipFill>
        <p:spPr>
          <a:xfrm xmlns:a="http://schemas.openxmlformats.org/drawingml/2006/main">
            <a:off x="9553575" y="4495800"/>
            <a:ext cx="1323975" cy="132397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02114036-0447-4CE7-8ADE-07E88D4FC3C7}"/>
              </a:ext>
            </a:extLst>
          </p:cNvPr>
          <p:cNvSpPr>
            <a:spLocks xmlns:a="http://schemas.openxmlformats.org/drawingml/2006/main" noGrp="1"/>
          </p:cNvSpPr>
          <p:nvPr/>
        </p:nvSpPr>
        <p:spPr>
          <a:xfrm xmlns:a="http://schemas.openxmlformats.org/drawingml/2006/main">
            <a:off x="609600" y="60960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B75"/>
                </a:solidFill>
                <a:latin typeface="Helvetica Neue"/>
                <a:ea typeface="Helvetica Neue"/>
                <a:cs typeface="Helvetica Neue"/>
              </a:defRPr>
            </a:pPr>
            <a:r>
              <a:rPr sz="1500" b="0">
                <a:solidFill>
                  <a:srgbClr val="566B75"/>
                </a:solidFill>
                <a:latin typeface="Helvetica Neue"/>
                <a:ea typeface="Helvetica Neue"/>
                <a:cs typeface="Helvetica Neue"/>
              </a:rPr>
              <a:t>Fixed example rule: first held-out slice per class in manifest order. Predictions from seed 17.</a:t>
            </a:r>
          </a:p>
        </p:txBody>
      </p:sp>
    </p:spTree>
    <p:extLst>
      <p:ext uri="{BB962C8B-B14F-4D97-AF65-F5344CB8AC3E}">
        <p14:creationId xmlns:p14="http://schemas.microsoft.com/office/powerpoint/2010/main" val="3826485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F44FB80-B758-48B4-8D7D-AC9662759F18}"/>
              </a:ext>
            </a:extLst>
          </p:cNvPr>
          <p:cNvSpPr>
            <a:spLocks xmlns:a="http://schemas.openxmlformats.org/drawingml/2006/main" noGrp="1"/>
          </p:cNvSpPr>
          <p:nvPr/>
        </p:nvSpPr>
        <p:spPr>
          <a:xfrm xmlns:a="http://schemas.openxmlformats.org/drawingml/2006/main">
            <a:off x="609600" y="419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A38"/>
                </a:solidFill>
                <a:latin typeface="Helvetica Neue"/>
                <a:ea typeface="Helvetica Neue"/>
                <a:cs typeface="Helvetica Neue"/>
              </a:defRPr>
            </a:pPr>
            <a:r>
              <a:rPr sz="3300" b="1">
                <a:solidFill>
                  <a:srgbClr val="142A38"/>
                </a:solidFill>
                <a:latin typeface="Helvetica Neue"/>
                <a:ea typeface="Helvetica Neue"/>
                <a:cs typeface="Helvetica Neue"/>
              </a:rPr>
              <a:t>Observed failure case</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5c48d353cc04d1d"/>
          <a:stretch xmlns:a="http://schemas.openxmlformats.org/drawingml/2006/main"/>
        </p:blipFill>
        <p:spPr>
          <a:xfrm xmlns:a="http://schemas.openxmlformats.org/drawingml/2006/main">
            <a:off x="609600" y="1699347"/>
            <a:ext cx="10972800" cy="299258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4D3BB7F-10A9-4EAE-B585-2D600A80F400}"/>
              </a:ext>
            </a:extLst>
          </p:cNvPr>
          <p:cNvSpPr>
            <a:spLocks xmlns:a="http://schemas.openxmlformats.org/drawingml/2006/main" noGrp="1"/>
          </p:cNvSpPr>
          <p:nvPr/>
        </p:nvSpPr>
        <p:spPr>
          <a:xfrm xmlns:a="http://schemas.openxmlformats.org/drawingml/2006/main">
            <a:off x="609600" y="5048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The mean result does not guarantee a better mask for every slice.</a:t>
            </a:r>
          </a:p>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Failure analysis will guide a fuller ablation and higher-resolution runs.</a:t>
            </a:r>
          </a:p>
        </p:txBody>
      </p:sp>
    </p:spTree>
    <p:extLst>
      <p:ext uri="{BB962C8B-B14F-4D97-AF65-F5344CB8AC3E}">
        <p14:creationId xmlns:p14="http://schemas.microsoft.com/office/powerpoint/2010/main" val="15880612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A85B01-6C44-419E-BF99-4B742C3D69F4}"/>
              </a:ext>
            </a:extLst>
          </p:cNvPr>
          <p:cNvSpPr>
            <a:spLocks xmlns:a="http://schemas.openxmlformats.org/drawingml/2006/main" noGrp="1"/>
          </p:cNvSpPr>
          <p:nvPr/>
        </p:nvSpPr>
        <p:spPr>
          <a:xfrm xmlns:a="http://schemas.openxmlformats.org/drawingml/2006/main">
            <a:off x="609600" y="419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A38"/>
                </a:solidFill>
                <a:latin typeface="Helvetica Neue"/>
                <a:ea typeface="Helvetica Neue"/>
                <a:cs typeface="Helvetica Neue"/>
              </a:defRPr>
            </a:pPr>
            <a:r>
              <a:rPr sz="3300" b="1">
                <a:solidFill>
                  <a:srgbClr val="142A38"/>
                </a:solidFill>
                <a:latin typeface="Helvetica Neue"/>
                <a:ea typeface="Helvetica Neue"/>
                <a:cs typeface="Helvetica Neue"/>
              </a:rPr>
              <a:t>Current contribution and next experiments</a:t>
            </a:r>
          </a:p>
        </p:txBody>
      </p:sp>
      <p:sp>
        <p:nvSpPr>
          <p:cNvPr id="2" name="">
            <a:extLst xmlns:a="http://schemas.openxmlformats.org/drawingml/2006/main">
              <a:ext uri="{FF2B5EF4-FFF2-40B4-BE49-F238E27FC236}">
                <a16:creationId xmlns:a16="http://schemas.microsoft.com/office/drawing/2014/main" id="{9B5CA2CD-5C08-4A41-AF62-92EEA07CE558}"/>
              </a:ext>
            </a:extLst>
          </p:cNvPr>
          <p:cNvSpPr>
            <a:spLocks xmlns:a="http://schemas.openxmlformats.org/drawingml/2006/main" noGrp="1"/>
          </p:cNvSpPr>
          <p:nvPr/>
        </p:nvSpPr>
        <p:spPr>
          <a:xfrm xmlns:a="http://schemas.openxmlformats.org/drawingml/2006/main">
            <a:off x="609600" y="1457325"/>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Implemented: a soft ROI gate, boundary prediction, and uncertainty-weighted residual refinement in one compact network.</a:t>
            </a:r>
          </a:p>
        </p:txBody>
      </p:sp>
      <p:sp>
        <p:nvSpPr>
          <p:cNvPr id="3" name="">
            <a:extLst xmlns:a="http://schemas.openxmlformats.org/drawingml/2006/main">
              <a:ext uri="{FF2B5EF4-FFF2-40B4-BE49-F238E27FC236}">
                <a16:creationId xmlns:a16="http://schemas.microsoft.com/office/drawing/2014/main" id="{418D0276-CF90-4421-85A8-1220EE03319A}"/>
              </a:ext>
            </a:extLst>
          </p:cNvPr>
          <p:cNvSpPr>
            <a:spLocks xmlns:a="http://schemas.openxmlformats.org/drawingml/2006/main" noGrp="1"/>
          </p:cNvSpPr>
          <p:nvPr/>
        </p:nvSpPr>
        <p:spPr>
          <a:xfrm xmlns:a="http://schemas.openxmlformats.org/drawingml/2006/main">
            <a:off x="609600" y="30194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8879"/>
                </a:solidFill>
                <a:latin typeface="Helvetica Neue"/>
                <a:ea typeface="Helvetica Neue"/>
                <a:cs typeface="Helvetica Neue"/>
              </a:defRPr>
            </a:pPr>
            <a:r>
              <a:rPr sz="2550" b="1">
                <a:solidFill>
                  <a:srgbClr val="008879"/>
                </a:solidFill>
                <a:latin typeface="Helvetica Neue"/>
                <a:ea typeface="Helvetica Neue"/>
                <a:cs typeface="Helvetica Neue"/>
              </a:rPr>
              <a:t>Next experiments</a:t>
            </a:r>
          </a:p>
        </p:txBody>
      </p:sp>
      <p:sp>
        <p:nvSpPr>
          <p:cNvPr id="4" name="">
            <a:extLst xmlns:a="http://schemas.openxmlformats.org/drawingml/2006/main">
              <a:ext uri="{FF2B5EF4-FFF2-40B4-BE49-F238E27FC236}">
                <a16:creationId xmlns:a16="http://schemas.microsoft.com/office/drawing/2014/main" id="{937A28B7-EF64-449D-A80E-E4892325529C}"/>
              </a:ext>
            </a:extLst>
          </p:cNvPr>
          <p:cNvSpPr>
            <a:spLocks xmlns:a="http://schemas.openxmlformats.org/drawingml/2006/main" noGrp="1"/>
          </p:cNvSpPr>
          <p:nvPr/>
        </p:nvSpPr>
        <p:spPr>
          <a:xfrm xmlns:a="http://schemas.openxmlformats.org/drawingml/2006/main">
            <a:off x="609600" y="36957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1. Repeat across patient folds and additional seeds.</a:t>
            </a:r>
          </a:p>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2. Separate the effect of each module and auxiliary loss.</a:t>
            </a:r>
          </a:p>
          <a:p xmlns:a="http://schemas.openxmlformats.org/drawingml/2006/main">
            <a:pPr>
              <a:defRPr sz="2100" b="0">
                <a:solidFill>
                  <a:srgbClr val="142A38"/>
                </a:solidFill>
                <a:latin typeface="Helvetica Neue"/>
                <a:ea typeface="Helvetica Neue"/>
                <a:cs typeface="Helvetica Neue"/>
              </a:defRPr>
            </a:pPr>
            <a:r>
              <a:rPr sz="2100" b="0">
                <a:solidFill>
                  <a:srgbClr val="142A38"/>
                </a:solidFill>
                <a:latin typeface="Helvetica Neue"/>
                <a:ea typeface="Helvetica Neue"/>
                <a:cs typeface="Helvetica Neue"/>
              </a:rPr>
              <a:t>3. Increase resolution and reproduce the paper baseline.</a:t>
            </a:r>
          </a:p>
        </p:txBody>
      </p:sp>
      <p:sp>
        <p:nvSpPr>
          <p:cNvPr id="5" name="">
            <a:extLst xmlns:a="http://schemas.openxmlformats.org/drawingml/2006/main">
              <a:ext uri="{FF2B5EF4-FFF2-40B4-BE49-F238E27FC236}">
                <a16:creationId xmlns:a16="http://schemas.microsoft.com/office/drawing/2014/main" id="{26FFDD3B-CB4E-4206-8E4E-760AEAA72CCB}"/>
              </a:ext>
            </a:extLst>
          </p:cNvPr>
          <p:cNvSpPr>
            <a:spLocks xmlns:a="http://schemas.openxmlformats.org/drawingml/2006/main" noGrp="1"/>
          </p:cNvSpPr>
          <p:nvPr/>
        </p:nvSpPr>
        <p:spPr>
          <a:xfrm xmlns:a="http://schemas.openxmlformats.org/drawingml/2006/main">
            <a:off x="609600" y="60960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B75"/>
                </a:solidFill>
                <a:latin typeface="Helvetica Neue"/>
                <a:ea typeface="Helvetica Neue"/>
                <a:cs typeface="Helvetica Neue"/>
              </a:defRPr>
            </a:pPr>
            <a:r>
              <a:rPr sz="1500" b="0">
                <a:solidFill>
                  <a:srgbClr val="566B75"/>
                </a:solidFill>
                <a:latin typeface="Helvetica Neue"/>
                <a:ea typeface="Helvetica Neue"/>
                <a:cs typeface="Helvetica Neue"/>
              </a:rPr>
              <a:t>Scope: a project architecture proposal and small-subset pilot. No claim of global novelty or clinical validation.</a:t>
            </a:r>
          </a:p>
        </p:txBody>
      </p:sp>
    </p:spTree>
    <p:extLst>
      <p:ext uri="{BB962C8B-B14F-4D97-AF65-F5344CB8AC3E}">
        <p14:creationId xmlns:p14="http://schemas.microsoft.com/office/powerpoint/2010/main" val="14416840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9B4A5BC-77F3-4479-8827-6B7FBF4A8166}"/>
              </a:ext>
            </a:extLst>
          </p:cNvPr>
          <p:cNvSpPr>
            <a:spLocks xmlns:a="http://schemas.openxmlformats.org/drawingml/2006/main" noGrp="1"/>
          </p:cNvSpPr>
          <p:nvPr/>
        </p:nvSpPr>
        <p:spPr>
          <a:xfrm xmlns:a="http://schemas.openxmlformats.org/drawingml/2006/main">
            <a:off x="609600" y="419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A38"/>
                </a:solidFill>
                <a:latin typeface="Helvetica Neue"/>
                <a:ea typeface="Helvetica Neue"/>
                <a:cs typeface="Helvetica Neue"/>
              </a:defRPr>
            </a:pPr>
            <a:r>
              <a:rPr sz="3300" b="1">
                <a:solidFill>
                  <a:srgbClr val="142A38"/>
                </a:solidFill>
                <a:latin typeface="Helvetica Neue"/>
                <a:ea typeface="Helvetica Neue"/>
                <a:cs typeface="Helvetica Neue"/>
              </a:rPr>
              <a:t>Appendix: additional measured outcomes</a:t>
            </a:r>
          </a:p>
        </p:txBody>
      </p:sp>
      <p:graphicFrame>
        <p:nvGraphicFramePr>
          <p:cNvPr id="5" name=""/>
          <p:cNvGraphicFramePr/>
          <p:nvPr/>
        </p:nvGraphicFramePr>
        <p:xfrm>
          <a:off xmlns:a="http://schemas.openxmlformats.org/drawingml/2006/main" x="609600" y="1419225"/>
          <a:ext xmlns:a="http://schemas.openxmlformats.org/drawingml/2006/main" cx="10972800" cy="3962400"/>
        </p:xfrm>
        <a:graphic xmlns:a="http://schemas.openxmlformats.org/drawingml/2006/main">
          <a:graphicData uri="http://schemas.openxmlformats.org/drawingml/2006/table">
            <a:tbl>
              <a:tblPr/>
              <a:tblGrid>
                <a:gridCol w="4114800"/>
                <a:gridCol w="2286000"/>
                <a:gridCol w="2286000"/>
                <a:gridCol w="2286000"/>
              </a:tblGrid>
              <a:tr h="660400">
                <a:tc>
                  <a:txBody>
                    <a:bodyPr/>
                    <a:lstStyle/>
                    <a:p>
                      <a:r>
                        <a:rPr sz="1725" b="1">
                          <a:solidFill>
                            <a:srgbClr val="FFFFFF"/>
                          </a:solidFill>
                          <a:latin typeface="Helvetica Neue"/>
                          <a:ea typeface="Helvetica Neue"/>
                          <a:cs typeface="Helvetica Neue"/>
                        </a:rPr>
                        <a:t>Outcome</a:t>
                      </a:r>
                    </a:p>
                  </a:txBody>
                  <a:tcPr marL="133350" marR="114300" marT="114300" marB="95250" anchor="ctr">
                    <a:solidFill>
                      <a:srgbClr val="142A38"/>
                    </a:solidFill>
                  </a:tcPr>
                </a:tc>
                <a:tc>
                  <a:txBody>
                    <a:bodyPr/>
                    <a:lstStyle/>
                    <a:p>
                      <a:r>
                        <a:rPr sz="1725" b="1">
                          <a:solidFill>
                            <a:srgbClr val="FFFFFF"/>
                          </a:solidFill>
                          <a:latin typeface="Helvetica Neue"/>
                          <a:ea typeface="Helvetica Neue"/>
                          <a:cs typeface="Helvetica Neue"/>
                        </a:rPr>
                        <a:t>Compact U-Net</a:t>
                      </a:r>
                    </a:p>
                  </a:txBody>
                  <a:tcPr marL="133350" marR="114300" marT="114300" marB="95250" anchor="ctr">
                    <a:solidFill>
                      <a:srgbClr val="142A38"/>
                    </a:solidFill>
                  </a:tcPr>
                </a:tc>
                <a:tc>
                  <a:txBody>
                    <a:bodyPr/>
                    <a:lstStyle/>
                    <a:p>
                      <a:r>
                        <a:rPr sz="1725" b="1">
                          <a:solidFill>
                            <a:srgbClr val="FFFFFF"/>
                          </a:solidFill>
                          <a:latin typeface="Helvetica Neue"/>
                          <a:ea typeface="Helvetica Neue"/>
                          <a:cs typeface="Helvetica Neue"/>
                        </a:rPr>
                        <a:t>SoftROI</a:t>
                      </a:r>
                    </a:p>
                  </a:txBody>
                  <a:tcPr marL="133350" marR="114300" marT="114300" marB="95250" anchor="ctr">
                    <a:solidFill>
                      <a:srgbClr val="142A38"/>
                    </a:solidFill>
                  </a:tcPr>
                </a:tc>
                <a:tc>
                  <a:txBody>
                    <a:bodyPr/>
                    <a:lstStyle/>
                    <a:p>
                      <a:r>
                        <a:rPr sz="1725" b="1">
                          <a:solidFill>
                            <a:srgbClr val="FFFFFF"/>
                          </a:solidFill>
                          <a:latin typeface="Helvetica Neue"/>
                          <a:ea typeface="Helvetica Neue"/>
                          <a:cs typeface="Helvetica Neue"/>
                        </a:rPr>
                        <a:t>SRB-U-Net</a:t>
                      </a:r>
                    </a:p>
                  </a:txBody>
                  <a:tcPr marL="133350" marR="114300" marT="114300" marB="95250" anchor="ctr">
                    <a:solidFill>
                      <a:srgbClr val="142A38"/>
                    </a:solidFill>
                  </a:tcPr>
                </a:tc>
              </a:tr>
              <a:tr h="660400">
                <a:tc>
                  <a:txBody>
                    <a:bodyPr/>
                    <a:lstStyle/>
                    <a:p>
                      <a:r>
                        <a:rPr sz="1725" b="0">
                          <a:solidFill>
                            <a:srgbClr val="142A38"/>
                          </a:solidFill>
                          <a:latin typeface="Helvetica Neue"/>
                          <a:ea typeface="Helvetica Neue"/>
                          <a:cs typeface="Helvetica Neue"/>
                        </a:rPr>
                        <a:t>Meningioma patient Dice</a:t>
                      </a:r>
                    </a:p>
                  </a:txBody>
                  <a:tcPr marL="133350" marR="114300" marT="114300" marB="95250" anchor="ctr">
                    <a:solidFill>
                      <a:srgbClr val="F7FAFA"/>
                    </a:solidFill>
                  </a:tcPr>
                </a:tc>
                <a:tc>
                  <a:txBody>
                    <a:bodyPr/>
                    <a:lstStyle/>
                    <a:p>
                      <a:r>
                        <a:rPr sz="1725" b="0">
                          <a:solidFill>
                            <a:srgbClr val="142A38"/>
                          </a:solidFill>
                          <a:latin typeface="Helvetica Neue"/>
                          <a:ea typeface="Helvetica Neue"/>
                          <a:cs typeface="Helvetica Neue"/>
                        </a:rPr>
                        <a:t>68.78%</a:t>
                      </a:r>
                    </a:p>
                  </a:txBody>
                  <a:tcPr marL="133350" marR="114300" marT="114300" marB="95250" anchor="ctr">
                    <a:solidFill>
                      <a:srgbClr val="F7FAFA"/>
                    </a:solidFill>
                  </a:tcPr>
                </a:tc>
                <a:tc>
                  <a:txBody>
                    <a:bodyPr/>
                    <a:lstStyle/>
                    <a:p>
                      <a:r>
                        <a:rPr sz="1725" b="0">
                          <a:solidFill>
                            <a:srgbClr val="142A38"/>
                          </a:solidFill>
                          <a:latin typeface="Helvetica Neue"/>
                          <a:ea typeface="Helvetica Neue"/>
                          <a:cs typeface="Helvetica Neue"/>
                        </a:rPr>
                        <a:t>67.29%</a:t>
                      </a:r>
                    </a:p>
                  </a:txBody>
                  <a:tcPr marL="133350" marR="114300" marT="114300" marB="95250" anchor="ctr">
                    <a:solidFill>
                      <a:srgbClr val="F7FAFA"/>
                    </a:solidFill>
                  </a:tcPr>
                </a:tc>
                <a:tc>
                  <a:txBody>
                    <a:bodyPr/>
                    <a:lstStyle/>
                    <a:p>
                      <a:r>
                        <a:rPr sz="1725" b="0">
                          <a:solidFill>
                            <a:srgbClr val="142A38"/>
                          </a:solidFill>
                          <a:latin typeface="Helvetica Neue"/>
                          <a:ea typeface="Helvetica Neue"/>
                          <a:cs typeface="Helvetica Neue"/>
                        </a:rPr>
                        <a:t>66.84%</a:t>
                      </a:r>
                    </a:p>
                  </a:txBody>
                  <a:tcPr marL="133350" marR="114300" marT="114300" marB="95250" anchor="ctr">
                    <a:solidFill>
                      <a:srgbClr val="F7FAFA"/>
                    </a:solidFill>
                  </a:tcPr>
                </a:tc>
              </a:tr>
              <a:tr h="660400">
                <a:tc>
                  <a:txBody>
                    <a:bodyPr/>
                    <a:lstStyle/>
                    <a:p>
                      <a:r>
                        <a:rPr sz="1725" b="0">
                          <a:solidFill>
                            <a:srgbClr val="142A38"/>
                          </a:solidFill>
                          <a:latin typeface="Helvetica Neue"/>
                          <a:ea typeface="Helvetica Neue"/>
                          <a:cs typeface="Helvetica Neue"/>
                        </a:rPr>
                        <a:t>Glioma patient Dice</a:t>
                      </a:r>
                    </a:p>
                  </a:txBody>
                  <a:tcPr marL="133350" marR="114300" marT="114300" marB="95250" anchor="ctr">
                    <a:solidFill>
                      <a:srgbClr val="FFFFFF"/>
                    </a:solidFill>
                  </a:tcPr>
                </a:tc>
                <a:tc>
                  <a:txBody>
                    <a:bodyPr/>
                    <a:lstStyle/>
                    <a:p>
                      <a:r>
                        <a:rPr sz="1725" b="0">
                          <a:solidFill>
                            <a:srgbClr val="142A38"/>
                          </a:solidFill>
                          <a:latin typeface="Helvetica Neue"/>
                          <a:ea typeface="Helvetica Neue"/>
                          <a:cs typeface="Helvetica Neue"/>
                        </a:rPr>
                        <a:t>36.80%</a:t>
                      </a:r>
                    </a:p>
                  </a:txBody>
                  <a:tcPr marL="133350" marR="114300" marT="114300" marB="95250" anchor="ctr">
                    <a:solidFill>
                      <a:srgbClr val="FFFFFF"/>
                    </a:solidFill>
                  </a:tcPr>
                </a:tc>
                <a:tc>
                  <a:txBody>
                    <a:bodyPr/>
                    <a:lstStyle/>
                    <a:p>
                      <a:r>
                        <a:rPr sz="1725" b="0">
                          <a:solidFill>
                            <a:srgbClr val="142A38"/>
                          </a:solidFill>
                          <a:latin typeface="Helvetica Neue"/>
                          <a:ea typeface="Helvetica Neue"/>
                          <a:cs typeface="Helvetica Neue"/>
                        </a:rPr>
                        <a:t>37.82%</a:t>
                      </a:r>
                    </a:p>
                  </a:txBody>
                  <a:tcPr marL="133350" marR="114300" marT="114300" marB="95250" anchor="ctr">
                    <a:solidFill>
                      <a:srgbClr val="FFFFFF"/>
                    </a:solidFill>
                  </a:tcPr>
                </a:tc>
                <a:tc>
                  <a:txBody>
                    <a:bodyPr/>
                    <a:lstStyle/>
                    <a:p>
                      <a:r>
                        <a:rPr sz="1725" b="0">
                          <a:solidFill>
                            <a:srgbClr val="142A38"/>
                          </a:solidFill>
                          <a:latin typeface="Helvetica Neue"/>
                          <a:ea typeface="Helvetica Neue"/>
                          <a:cs typeface="Helvetica Neue"/>
                        </a:rPr>
                        <a:t>39.83%</a:t>
                      </a:r>
                    </a:p>
                  </a:txBody>
                  <a:tcPr marL="133350" marR="114300" marT="114300" marB="95250" anchor="ctr">
                    <a:solidFill>
                      <a:srgbClr val="FFFFFF"/>
                    </a:solidFill>
                  </a:tcPr>
                </a:tc>
              </a:tr>
              <a:tr h="660400">
                <a:tc>
                  <a:txBody>
                    <a:bodyPr/>
                    <a:lstStyle/>
                    <a:p>
                      <a:r>
                        <a:rPr sz="1725" b="0">
                          <a:solidFill>
                            <a:srgbClr val="142A38"/>
                          </a:solidFill>
                          <a:latin typeface="Helvetica Neue"/>
                          <a:ea typeface="Helvetica Neue"/>
                          <a:cs typeface="Helvetica Neue"/>
                        </a:rPr>
                        <a:t>Pituitary patient Dice</a:t>
                      </a:r>
                    </a:p>
                  </a:txBody>
                  <a:tcPr marL="133350" marR="114300" marT="114300" marB="95250" anchor="ctr">
                    <a:solidFill>
                      <a:srgbClr val="F7FAFA"/>
                    </a:solidFill>
                  </a:tcPr>
                </a:tc>
                <a:tc>
                  <a:txBody>
                    <a:bodyPr/>
                    <a:lstStyle/>
                    <a:p>
                      <a:r>
                        <a:rPr sz="1725" b="0">
                          <a:solidFill>
                            <a:srgbClr val="142A38"/>
                          </a:solidFill>
                          <a:latin typeface="Helvetica Neue"/>
                          <a:ea typeface="Helvetica Neue"/>
                          <a:cs typeface="Helvetica Neue"/>
                        </a:rPr>
                        <a:t>73.79%</a:t>
                      </a:r>
                    </a:p>
                  </a:txBody>
                  <a:tcPr marL="133350" marR="114300" marT="114300" marB="95250" anchor="ctr">
                    <a:solidFill>
                      <a:srgbClr val="F7FAFA"/>
                    </a:solidFill>
                  </a:tcPr>
                </a:tc>
                <a:tc>
                  <a:txBody>
                    <a:bodyPr/>
                    <a:lstStyle/>
                    <a:p>
                      <a:r>
                        <a:rPr sz="1725" b="0">
                          <a:solidFill>
                            <a:srgbClr val="142A38"/>
                          </a:solidFill>
                          <a:latin typeface="Helvetica Neue"/>
                          <a:ea typeface="Helvetica Neue"/>
                          <a:cs typeface="Helvetica Neue"/>
                        </a:rPr>
                        <a:t>80.80%</a:t>
                      </a:r>
                    </a:p>
                  </a:txBody>
                  <a:tcPr marL="133350" marR="114300" marT="114300" marB="95250" anchor="ctr">
                    <a:solidFill>
                      <a:srgbClr val="F7FAFA"/>
                    </a:solidFill>
                  </a:tcPr>
                </a:tc>
                <a:tc>
                  <a:txBody>
                    <a:bodyPr/>
                    <a:lstStyle/>
                    <a:p>
                      <a:r>
                        <a:rPr sz="1725" b="0">
                          <a:solidFill>
                            <a:srgbClr val="142A38"/>
                          </a:solidFill>
                          <a:latin typeface="Helvetica Neue"/>
                          <a:ea typeface="Helvetica Neue"/>
                          <a:cs typeface="Helvetica Neue"/>
                        </a:rPr>
                        <a:t>82.83%</a:t>
                      </a:r>
                    </a:p>
                  </a:txBody>
                  <a:tcPr marL="133350" marR="114300" marT="114300" marB="95250" anchor="ctr">
                    <a:solidFill>
                      <a:srgbClr val="F7FAFA"/>
                    </a:solidFill>
                  </a:tcPr>
                </a:tc>
              </a:tr>
              <a:tr h="660400">
                <a:tc>
                  <a:txBody>
                    <a:bodyPr/>
                    <a:lstStyle/>
                    <a:p>
                      <a:r>
                        <a:rPr sz="1725" b="0">
                          <a:solidFill>
                            <a:srgbClr val="142A38"/>
                          </a:solidFill>
                          <a:latin typeface="Helvetica Neue"/>
                          <a:ea typeface="Helvetica Neue"/>
                          <a:cs typeface="Helvetica Neue"/>
                        </a:rPr>
                        <a:t>Small-tumor slice Dice</a:t>
                      </a:r>
                    </a:p>
                  </a:txBody>
                  <a:tcPr marL="133350" marR="114300" marT="114300" marB="95250" anchor="ctr">
                    <a:solidFill>
                      <a:srgbClr val="FFFFFF"/>
                    </a:solidFill>
                  </a:tcPr>
                </a:tc>
                <a:tc>
                  <a:txBody>
                    <a:bodyPr/>
                    <a:lstStyle/>
                    <a:p>
                      <a:r>
                        <a:rPr sz="1725" b="0">
                          <a:solidFill>
                            <a:srgbClr val="142A38"/>
                          </a:solidFill>
                          <a:latin typeface="Helvetica Neue"/>
                          <a:ea typeface="Helvetica Neue"/>
                          <a:cs typeface="Helvetica Neue"/>
                        </a:rPr>
                        <a:t>62.99%</a:t>
                      </a:r>
                    </a:p>
                  </a:txBody>
                  <a:tcPr marL="133350" marR="114300" marT="114300" marB="95250" anchor="ctr">
                    <a:solidFill>
                      <a:srgbClr val="FFFFFF"/>
                    </a:solidFill>
                  </a:tcPr>
                </a:tc>
                <a:tc>
                  <a:txBody>
                    <a:bodyPr/>
                    <a:lstStyle/>
                    <a:p>
                      <a:r>
                        <a:rPr sz="1725" b="0">
                          <a:solidFill>
                            <a:srgbClr val="142A38"/>
                          </a:solidFill>
                          <a:latin typeface="Helvetica Neue"/>
                          <a:ea typeface="Helvetica Neue"/>
                          <a:cs typeface="Helvetica Neue"/>
                        </a:rPr>
                        <a:t>66.64%</a:t>
                      </a:r>
                    </a:p>
                  </a:txBody>
                  <a:tcPr marL="133350" marR="114300" marT="114300" marB="95250" anchor="ctr">
                    <a:solidFill>
                      <a:srgbClr val="FFFFFF"/>
                    </a:solidFill>
                  </a:tcPr>
                </a:tc>
                <a:tc>
                  <a:txBody>
                    <a:bodyPr/>
                    <a:lstStyle/>
                    <a:p>
                      <a:r>
                        <a:rPr sz="1725" b="0">
                          <a:solidFill>
                            <a:srgbClr val="142A38"/>
                          </a:solidFill>
                          <a:latin typeface="Helvetica Neue"/>
                          <a:ea typeface="Helvetica Neue"/>
                          <a:cs typeface="Helvetica Neue"/>
                        </a:rPr>
                        <a:t>68.66%</a:t>
                      </a:r>
                    </a:p>
                  </a:txBody>
                  <a:tcPr marL="133350" marR="114300" marT="114300" marB="95250" anchor="ctr">
                    <a:solidFill>
                      <a:srgbClr val="FFFFFF"/>
                    </a:solidFill>
                  </a:tcPr>
                </a:tc>
              </a:tr>
              <a:tr h="660400">
                <a:tc>
                  <a:txBody>
                    <a:bodyPr/>
                    <a:lstStyle/>
                    <a:p>
                      <a:r>
                        <a:rPr sz="1725" b="0">
                          <a:solidFill>
                            <a:srgbClr val="142A38"/>
                          </a:solidFill>
                          <a:latin typeface="Helvetica Neue"/>
                          <a:ea typeface="Helvetica Neue"/>
                          <a:cs typeface="Helvetica Neue"/>
                        </a:rPr>
                        <a:t>Tumor-type accuracy</a:t>
                      </a:r>
                    </a:p>
                  </a:txBody>
                  <a:tcPr marL="133350" marR="114300" marT="114300" marB="95250" anchor="ctr">
                    <a:solidFill>
                      <a:srgbClr val="F7FAFA"/>
                    </a:solidFill>
                  </a:tcPr>
                </a:tc>
                <a:tc>
                  <a:txBody>
                    <a:bodyPr/>
                    <a:lstStyle/>
                    <a:p>
                      <a:r>
                        <a:rPr sz="1725" b="0">
                          <a:solidFill>
                            <a:srgbClr val="142A38"/>
                          </a:solidFill>
                          <a:latin typeface="Helvetica Neue"/>
                          <a:ea typeface="Helvetica Neue"/>
                          <a:cs typeface="Helvetica Neue"/>
                        </a:rPr>
                        <a:t>86.82%</a:t>
                      </a:r>
                    </a:p>
                  </a:txBody>
                  <a:tcPr marL="133350" marR="114300" marT="114300" marB="95250" anchor="ctr">
                    <a:solidFill>
                      <a:srgbClr val="F7FAFA"/>
                    </a:solidFill>
                  </a:tcPr>
                </a:tc>
                <a:tc>
                  <a:txBody>
                    <a:bodyPr/>
                    <a:lstStyle/>
                    <a:p>
                      <a:r>
                        <a:rPr sz="1725" b="0">
                          <a:solidFill>
                            <a:srgbClr val="142A38"/>
                          </a:solidFill>
                          <a:latin typeface="Helvetica Neue"/>
                          <a:ea typeface="Helvetica Neue"/>
                          <a:cs typeface="Helvetica Neue"/>
                        </a:rPr>
                        <a:t>80.62%</a:t>
                      </a:r>
                    </a:p>
                  </a:txBody>
                  <a:tcPr marL="133350" marR="114300" marT="114300" marB="95250" anchor="ctr">
                    <a:solidFill>
                      <a:srgbClr val="F7FAFA"/>
                    </a:solidFill>
                  </a:tcPr>
                </a:tc>
                <a:tc>
                  <a:txBody>
                    <a:bodyPr/>
                    <a:lstStyle/>
                    <a:p>
                      <a:r>
                        <a:rPr sz="1725" b="0">
                          <a:solidFill>
                            <a:srgbClr val="142A38"/>
                          </a:solidFill>
                          <a:latin typeface="Helvetica Neue"/>
                          <a:ea typeface="Helvetica Neue"/>
                          <a:cs typeface="Helvetica Neue"/>
                        </a:rPr>
                        <a:t>87.21%</a:t>
                      </a:r>
                    </a:p>
                  </a:txBody>
                  <a:tcPr marL="133350" marR="114300" marT="114300" marB="95250" anchor="ctr">
                    <a:solidFill>
                      <a:srgbClr val="F7FAFA"/>
                    </a:solidFill>
                  </a:tcPr>
                </a:tc>
              </a:tr>
            </a:tbl>
          </a:graphicData>
        </a:graphic>
      </p:graphicFrame>
      <p:sp>
        <p:nvSpPr>
          <p:cNvPr id="3" name="">
            <a:extLst xmlns:a="http://schemas.openxmlformats.org/drawingml/2006/main">
              <a:ext uri="{FF2B5EF4-FFF2-40B4-BE49-F238E27FC236}">
                <a16:creationId xmlns:a16="http://schemas.microsoft.com/office/drawing/2014/main" id="{41C280D7-07B4-493A-B598-AFCBAC2CBB4E}"/>
              </a:ext>
            </a:extLst>
          </p:cNvPr>
          <p:cNvSpPr>
            <a:spLocks xmlns:a="http://schemas.openxmlformats.org/drawingml/2006/main" noGrp="1"/>
          </p:cNvSpPr>
          <p:nvPr/>
        </p:nvSpPr>
        <p:spPr>
          <a:xfrm xmlns:a="http://schemas.openxmlformats.org/drawingml/2006/main">
            <a:off x="609600" y="60960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B75"/>
                </a:solidFill>
                <a:latin typeface="Helvetica Neue"/>
                <a:ea typeface="Helvetica Neue"/>
                <a:cs typeface="Helvetica Neue"/>
              </a:defRPr>
            </a:pPr>
            <a:r>
              <a:rPr sz="1500" b="0">
                <a:solidFill>
                  <a:srgbClr val="566B75"/>
                </a:solidFill>
                <a:latin typeface="Helvetica Neue"/>
                <a:ea typeface="Helvetica Neue"/>
                <a:cs typeface="Helvetica Neue"/>
              </a:rPr>
              <a:t>Two-seed averages. Small-tumor cutoff comes from training data. Classification is an auxiliary outcome.</a:t>
            </a:r>
          </a:p>
        </p:txBody>
      </p:sp>
    </p:spTree>
    <p:extLst>
      <p:ext uri="{BB962C8B-B14F-4D97-AF65-F5344CB8AC3E}">
        <p14:creationId xmlns:p14="http://schemas.microsoft.com/office/powerpoint/2010/main" val="634014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ED354A-76C3-4B9C-9B5D-80B531E38AF3}"/>
              </a:ext>
            </a:extLst>
          </p:cNvPr>
          <p:cNvSpPr>
            <a:spLocks xmlns:a="http://schemas.openxmlformats.org/drawingml/2006/main" noGrp="1"/>
          </p:cNvSpPr>
          <p:nvPr/>
        </p:nvSpPr>
        <p:spPr>
          <a:xfrm xmlns:a="http://schemas.openxmlformats.org/drawingml/2006/main">
            <a:off x="609600" y="419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A38"/>
                </a:solidFill>
                <a:latin typeface="Helvetica Neue"/>
                <a:ea typeface="Helvetica Neue"/>
                <a:cs typeface="Helvetica Neue"/>
              </a:defRPr>
            </a:pPr>
            <a:r>
              <a:rPr sz="3300" b="1">
                <a:solidFill>
                  <a:srgbClr val="142A38"/>
                </a:solidFill>
                <a:latin typeface="Helvetica Neue"/>
                <a:ea typeface="Helvetica Neue"/>
                <a:cs typeface="Helvetica Neue"/>
              </a:rPr>
              <a:t>Appendix: related work and evidence</a:t>
            </a:r>
          </a:p>
        </p:txBody>
      </p:sp>
      <p:sp>
        <p:nvSpPr>
          <p:cNvPr id="2" name="">
            <a:extLst xmlns:a="http://schemas.openxmlformats.org/drawingml/2006/main">
              <a:ext uri="{FF2B5EF4-FFF2-40B4-BE49-F238E27FC236}">
                <a16:creationId xmlns:a16="http://schemas.microsoft.com/office/drawing/2014/main" id="{5F30ED5B-5EED-4925-8811-625E7D85E0DE}"/>
              </a:ext>
            </a:extLst>
          </p:cNvPr>
          <p:cNvSpPr>
            <a:spLocks xmlns:a="http://schemas.openxmlformats.org/drawingml/2006/main" noGrp="1"/>
          </p:cNvSpPr>
          <p:nvPr/>
        </p:nvSpPr>
        <p:spPr>
          <a:xfrm xmlns:a="http://schemas.openxmlformats.org/drawingml/2006/main">
            <a:off x="609600" y="14668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38"/>
                </a:solidFill>
                <a:latin typeface="Helvetica Neue"/>
                <a:ea typeface="Helvetica Neue"/>
                <a:cs typeface="Helvetica Neue"/>
              </a:defRPr>
            </a:pPr>
            <a:r>
              <a:rPr sz="2025" b="0">
                <a:solidFill>
                  <a:srgbClr val="142A38"/>
                </a:solidFill>
                <a:latin typeface="Helvetica Neue"/>
                <a:ea typeface="Helvetica Neue"/>
                <a:cs typeface="Helvetica Neue"/>
              </a:rPr>
              <a:t>Ahsan et al. (2024 online / 2025 issue)</a:t>
            </a:r>
          </a:p>
          <a:p xmlns:a="http://schemas.openxmlformats.org/drawingml/2006/main">
            <a:pPr>
              <a:defRPr sz="2025" b="0">
                <a:solidFill>
                  <a:srgbClr val="142A38"/>
                </a:solidFill>
                <a:latin typeface="Helvetica Neue"/>
                <a:ea typeface="Helvetica Neue"/>
                <a:cs typeface="Helvetica Neue"/>
              </a:defRPr>
            </a:pPr>
            <a:r>
              <a:rPr sz="2025" b="0">
                <a:solidFill>
                  <a:srgbClr val="142A38"/>
                </a:solidFill>
                <a:latin typeface="Helvetica Neue"/>
                <a:ea typeface="Helvetica Neue"/>
                <a:cs typeface="Helvetica Neue"/>
              </a:rPr>
              <a:t>Brain tumor detection and segmentation using deep learning</a:t>
            </a:r>
          </a:p>
        </p:txBody>
      </p:sp>
      <p:sp>
        <p:nvSpPr>
          <p:cNvPr id="3" name="">
            <a:extLst xmlns:a="http://schemas.openxmlformats.org/drawingml/2006/main">
              <a:ext uri="{FF2B5EF4-FFF2-40B4-BE49-F238E27FC236}">
                <a16:creationId xmlns:a16="http://schemas.microsoft.com/office/drawing/2014/main" id="{46DFF3CD-8D9E-443E-896C-41BEF52A1371}"/>
              </a:ext>
            </a:extLst>
          </p:cNvPr>
          <p:cNvSpPr>
            <a:spLocks xmlns:a="http://schemas.openxmlformats.org/drawingml/2006/main" noGrp="1"/>
          </p:cNvSpPr>
          <p:nvPr/>
        </p:nvSpPr>
        <p:spPr>
          <a:xfrm xmlns:a="http://schemas.openxmlformats.org/drawingml/2006/main">
            <a:off x="609600" y="26384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38"/>
                </a:solidFill>
                <a:latin typeface="Helvetica Neue"/>
                <a:ea typeface="Helvetica Neue"/>
                <a:cs typeface="Helvetica Neue"/>
              </a:defRPr>
            </a:pPr>
            <a:r>
              <a:rPr sz="2025" b="0">
                <a:solidFill>
                  <a:srgbClr val="142A38"/>
                </a:solidFill>
                <a:latin typeface="Helvetica Neue"/>
                <a:ea typeface="Helvetica Neue"/>
                <a:cs typeface="Helvetica Neue"/>
              </a:rPr>
              <a:t>Oktay et al. (2018)</a:t>
            </a:r>
          </a:p>
          <a:p xmlns:a="http://schemas.openxmlformats.org/drawingml/2006/main">
            <a:pPr>
              <a:defRPr sz="2025" b="0">
                <a:solidFill>
                  <a:srgbClr val="142A38"/>
                </a:solidFill>
                <a:latin typeface="Helvetica Neue"/>
                <a:ea typeface="Helvetica Neue"/>
                <a:cs typeface="Helvetica Neue"/>
              </a:defRPr>
            </a:pPr>
            <a:r>
              <a:rPr sz="2025" b="0">
                <a:solidFill>
                  <a:srgbClr val="142A38"/>
                </a:solidFill>
                <a:latin typeface="Helvetica Neue"/>
                <a:ea typeface="Helvetica Neue"/>
                <a:cs typeface="Helvetica Neue"/>
              </a:rPr>
              <a:t>Attention U-Net: Learning Where to Look for the Pancreas</a:t>
            </a:r>
          </a:p>
        </p:txBody>
      </p:sp>
      <p:sp>
        <p:nvSpPr>
          <p:cNvPr id="4" name="">
            <a:extLst xmlns:a="http://schemas.openxmlformats.org/drawingml/2006/main">
              <a:ext uri="{FF2B5EF4-FFF2-40B4-BE49-F238E27FC236}">
                <a16:creationId xmlns:a16="http://schemas.microsoft.com/office/drawing/2014/main" id="{6CD3F844-8F38-4FC1-91B5-230427ADF1BF}"/>
              </a:ext>
            </a:extLst>
          </p:cNvPr>
          <p:cNvSpPr>
            <a:spLocks xmlns:a="http://schemas.openxmlformats.org/drawingml/2006/main" noGrp="1"/>
          </p:cNvSpPr>
          <p:nvPr/>
        </p:nvSpPr>
        <p:spPr>
          <a:xfrm xmlns:a="http://schemas.openxmlformats.org/drawingml/2006/main">
            <a:off x="609600" y="37623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38"/>
                </a:solidFill>
                <a:latin typeface="Helvetica Neue"/>
                <a:ea typeface="Helvetica Neue"/>
                <a:cs typeface="Helvetica Neue"/>
              </a:defRPr>
            </a:pPr>
            <a:r>
              <a:rPr sz="2025" b="0">
                <a:solidFill>
                  <a:srgbClr val="142A38"/>
                </a:solidFill>
                <a:latin typeface="Helvetica Neue"/>
                <a:ea typeface="Helvetica Neue"/>
                <a:cs typeface="Helvetica Neue"/>
              </a:rPr>
              <a:t>Xu et al. (2024)</a:t>
            </a:r>
          </a:p>
          <a:p xmlns:a="http://schemas.openxmlformats.org/drawingml/2006/main">
            <a:pPr>
              <a:defRPr sz="2025" b="0">
                <a:solidFill>
                  <a:srgbClr val="142A38"/>
                </a:solidFill>
                <a:latin typeface="Helvetica Neue"/>
                <a:ea typeface="Helvetica Neue"/>
                <a:cs typeface="Helvetica Neue"/>
              </a:defRPr>
            </a:pPr>
            <a:r>
              <a:rPr sz="2025" b="0">
                <a:solidFill>
                  <a:srgbClr val="142A38"/>
                </a:solidFill>
                <a:latin typeface="Helvetica Neue"/>
                <a:ea typeface="Helvetica Neue"/>
                <a:cs typeface="Helvetica Neue"/>
              </a:rPr>
              <a:t>Boundary guidance network for medical image segmentation</a:t>
            </a:r>
          </a:p>
        </p:txBody>
      </p:sp>
      <p:sp>
        <p:nvSpPr>
          <p:cNvPr id="5" name="">
            <a:extLst xmlns:a="http://schemas.openxmlformats.org/drawingml/2006/main">
              <a:ext uri="{FF2B5EF4-FFF2-40B4-BE49-F238E27FC236}">
                <a16:creationId xmlns:a16="http://schemas.microsoft.com/office/drawing/2014/main" id="{19F5BF9C-6C26-4E58-9EC9-70CFA4B87325}"/>
              </a:ext>
            </a:extLst>
          </p:cNvPr>
          <p:cNvSpPr>
            <a:spLocks xmlns:a="http://schemas.openxmlformats.org/drawingml/2006/main" noGrp="1"/>
          </p:cNvSpPr>
          <p:nvPr/>
        </p:nvSpPr>
        <p:spPr>
          <a:xfrm xmlns:a="http://schemas.openxmlformats.org/drawingml/2006/main">
            <a:off x="609600" y="48577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38"/>
                </a:solidFill>
                <a:latin typeface="Helvetica Neue"/>
                <a:ea typeface="Helvetica Neue"/>
                <a:cs typeface="Helvetica Neue"/>
              </a:defRPr>
            </a:pPr>
            <a:r>
              <a:rPr sz="2025" b="0">
                <a:solidFill>
                  <a:srgbClr val="142A38"/>
                </a:solidFill>
                <a:latin typeface="Helvetica Neue"/>
                <a:ea typeface="Helvetica Neue"/>
                <a:cs typeface="Helvetica Neue"/>
              </a:rPr>
              <a:t>Li et al. (2022)</a:t>
            </a:r>
          </a:p>
          <a:p xmlns:a="http://schemas.openxmlformats.org/drawingml/2006/main">
            <a:pPr>
              <a:defRPr sz="2025" b="0">
                <a:solidFill>
                  <a:srgbClr val="142A38"/>
                </a:solidFill>
                <a:latin typeface="Helvetica Neue"/>
                <a:ea typeface="Helvetica Neue"/>
                <a:cs typeface="Helvetica Neue"/>
              </a:defRPr>
            </a:pPr>
            <a:r>
              <a:rPr sz="2025" b="0">
                <a:solidFill>
                  <a:srgbClr val="142A38"/>
                </a:solidFill>
                <a:latin typeface="Helvetica Neue"/>
                <a:ea typeface="Helvetica Neue"/>
                <a:cs typeface="Helvetica Neue"/>
              </a:rPr>
              <a:t>Category Guided Attention Network for Brain Tumor Segmentation in MRI</a:t>
            </a:r>
          </a:p>
        </p:txBody>
      </p:sp>
      <p:sp>
        <p:nvSpPr>
          <p:cNvPr id="6" name="">
            <a:extLst xmlns:a="http://schemas.openxmlformats.org/drawingml/2006/main">
              <a:ext uri="{FF2B5EF4-FFF2-40B4-BE49-F238E27FC236}">
                <a16:creationId xmlns:a16="http://schemas.microsoft.com/office/drawing/2014/main" id="{D3C18783-1E85-461E-B863-F4156B187B40}"/>
              </a:ext>
            </a:extLst>
          </p:cNvPr>
          <p:cNvSpPr>
            <a:spLocks xmlns:a="http://schemas.openxmlformats.org/drawingml/2006/main" noGrp="1"/>
          </p:cNvSpPr>
          <p:nvPr/>
        </p:nvSpPr>
        <p:spPr>
          <a:xfrm xmlns:a="http://schemas.openxmlformats.org/drawingml/2006/main">
            <a:off x="609600" y="60960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B75"/>
                </a:solidFill>
                <a:latin typeface="Helvetica Neue"/>
                <a:ea typeface="Helvetica Neue"/>
                <a:cs typeface="Helvetica Neue"/>
              </a:defRPr>
            </a:pPr>
            <a:r>
              <a:rPr sz="1500" b="0">
                <a:solidFill>
                  <a:srgbClr val="566B75"/>
                </a:solidFill>
                <a:latin typeface="Helvetica Neue"/>
                <a:ea typeface="Helvetica Neue"/>
                <a:cs typeface="Helvetica Neue"/>
              </a:rPr>
              <a:t>Source URLs are in speaker notes. Code, checkpoints, split manifest, and raw metrics accompany the deck.</a:t>
            </a:r>
          </a:p>
        </p:txBody>
      </p:sp>
    </p:spTree>
    <p:extLst>
      <p:ext uri="{BB962C8B-B14F-4D97-AF65-F5344CB8AC3E}">
        <p14:creationId xmlns:p14="http://schemas.microsoft.com/office/powerpoint/2010/main" val="13951104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2026-09-17T17:08:08.6650000Z</dcterms:created>
  <dcterms:modified xsi:type="dcterms:W3CDTF">2026-09-17T17:08:08.6650000Z</dcterms:modified>
</coreProperties>
</file>