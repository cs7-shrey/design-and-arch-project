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5d6d95f51c4394" /><Relationship Type="http://schemas.openxmlformats.org/officeDocument/2006/relationships/extended-properties" Target="/docProps/app.xml" Id="Ra2218e0b34d047f8" /><Relationship Type="http://schemas.openxmlformats.org/officeDocument/2006/relationships/officeDocument" Target="/ppt/presentation.xml" Id="R761e1d9a519f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0efbf968c4414"/>
  </p:sldMasterIdLst>
  <p:notesMasterIdLst>
    <p:notesMasterId xmlns:r="http://schemas.openxmlformats.org/officeDocument/2006/relationships" r:id="Rf1bc209d838345bf"/>
  </p:notesMasterIdLst>
  <p:sldIdLst>
    <p:sldId xmlns:r="http://schemas.openxmlformats.org/officeDocument/2006/relationships" id="256" r:id="R087d96f4bad74b63"/>
    <p:sldId xmlns:r="http://schemas.openxmlformats.org/officeDocument/2006/relationships" id="257" r:id="Rabaf1cc2d21242c7"/>
    <p:sldId xmlns:r="http://schemas.openxmlformats.org/officeDocument/2006/relationships" id="258" r:id="R07e97ad914c24d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53c2145de4adb" /><Relationship Type="http://schemas.openxmlformats.org/officeDocument/2006/relationships/slideMaster" Target="/ppt/slideMasters/slideMaster1.xml" Id="Rd550efbf968c4414" /><Relationship Type="http://schemas.openxmlformats.org/officeDocument/2006/relationships/notesMaster" Target="/ppt/notesMasters/notesMaster1.xml" Id="Rf1bc209d838345bf" /><Relationship Type="http://schemas.openxmlformats.org/officeDocument/2006/relationships/presProps" Target="/ppt/presProps.xml" Id="R8425a4947b8942b6" /><Relationship Type="http://schemas.openxmlformats.org/officeDocument/2006/relationships/tableStyles" Target="/ppt/tableStyles.xml" Id="R83d91db7680645f0" /><Relationship Type="http://schemas.openxmlformats.org/officeDocument/2006/relationships/slide" Target="/ppt/slides/slide1.xml" Id="R087d96f4bad74b63" /><Relationship Type="http://schemas.openxmlformats.org/officeDocument/2006/relationships/slide" Target="/ppt/slides/slide2.xml" Id="Rabaf1cc2d21242c7" /><Relationship Type="http://schemas.openxmlformats.org/officeDocument/2006/relationships/slide" Target="/ppt/slides/slide3.xml" Id="R07e97ad914c2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2984d5d1b645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306c6883d46f4" /><Relationship Type="http://schemas.openxmlformats.org/officeDocument/2006/relationships/notesMaster" Target="/ppt/notesMasters/notesMaster1.xml" Id="Rbf48c5413aa84e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5dcb33b514b6f" /><Relationship Type="http://schemas.openxmlformats.org/officeDocument/2006/relationships/notesMaster" Target="/ppt/notesMasters/notesMaster1.xml" Id="R6c0d0a38be8a4a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af351c2354ab5" /><Relationship Type="http://schemas.openxmlformats.org/officeDocument/2006/relationships/notesMaster" Target="/ppt/notesMasters/notesMaster1.xml" Id="Rd21420df64994f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src/models.py, TumorNet.forward. This is a high-level view. The encoder-to-decoder arrow bundles deepest features and multiscale skips. Decoder outputs F. The boundary-refinement block contains the provisional mask head, boundary head, uncertainty proxy, and residual refiner, expanded in the third slide. R also directly enters the refiner. Tensor sizes use H x W x C. Classification is three tumor types, not healthy-versus-tumor screening.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src/models.py. Encoder dimensions: 128x128x16, 64x64x32, 32x32x64, 16x16x128. Each downsample is 2x2 max pooling. Decoder starts at the bottleneck, bilinearly upsamples, concatenates the corresponding gated skip, and applies Block. Decoder widths: 64,32,16. The same coarse R comes from the bottleneck via a 1x1 convolution and sigmoid, then bilinear resizing at each gate. The gate is a multiplicative weighting with a nonzero 0.5 floor. The class and final output heads are expanded in the overview and refinement diagrams.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src/models.py. Provisional segmentation z = Conv1x1(F). p=sigmoid(z). u=4p(1-p) is a heuristic uncertainty proxy, not calibrated uncertainty. b=sigmoid(Conv1x1(SiLU(Conv3x3(F,16-&gt;8)))). The residual head concatenates F (16 channels), R (1), b (1), and u (1), totaling 19 channels. It predicts delta_z using Conv3x3 19-&gt;16, SiLU, Conv1x1 16-&gt;1. The final logit is z+u*delta_z. The terminal residual convolution is zero-initialized. Every input comes from the MRI forward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dee23e055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6e76414a44541" /><Relationship Type="http://schemas.openxmlformats.org/officeDocument/2006/relationships/slideLayout" Target="/ppt/slideLayouts/slideLayout1.xml" Id="R10907856a13d49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07856a13d49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4b3b58004084" /><Relationship Type="http://schemas.openxmlformats.org/officeDocument/2006/relationships/notesSlide" Target="/ppt/notesSlides/notesSlide1.xml" Id="Rf63550dd5f8b45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a4334fc94cc8" /><Relationship Type="http://schemas.openxmlformats.org/officeDocument/2006/relationships/notesSlide" Target="/ppt/notesSlides/notesSlide2.xml" Id="R81856ef3394a49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45865a734345" /><Relationship Type="http://schemas.openxmlformats.org/officeDocument/2006/relationships/notesSlide" Target="/ppt/notesSlides/notesSlide3.xml" Id="R3cf86082a8194f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DC6BE1-96F1-431E-9F30-18D2233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1143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SoftROI-Boundary U-Net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D4B95-188F-450C-BAA3-67D714E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47725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Architecture overview of the implemented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E2BF9-164F-48F5-A51B-3782ED00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71825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D03A8-B73E-419E-B716-EB3F015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289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D958-F01F-4834-ACCE-8F438211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FA59B-C903-48E8-954A-EB7E23F9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289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7C4F0-A524-47BF-B88D-22F0C1D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71825"/>
            <a:ext cx="857250" cy="9525"/>
          </a:xfrm>
          <a:custGeom xmlns:a="http://schemas.openxmlformats.org/drawingml/2006/main"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964AD-F517-4C1B-AECA-59DCA927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289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C8296-5518-43B3-9A24-798B5FDD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47850"/>
            <a:ext cx="1476375" cy="847725"/>
          </a:xfrm>
          <a:custGeom xmlns:a="http://schemas.openxmlformats.org/drawingml/2006/main">
            <a:pathLst>
              <a:path w="1476375" h="847725">
                <a:moveTo>
                  <a:pt x="0" y="847725"/>
                </a:moveTo>
                <a:lnTo>
                  <a:pt x="0" y="0"/>
                </a:ln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7EBC-DBE0-4B2A-88CF-A4363DDB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4988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1C3AB-34FE-4819-8745-D458A5CD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40E05-6935-4855-B31E-64D957D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88" y="260032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405FF-4226-4897-A558-1BE9FA38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2286000" cy="847725"/>
          </a:xfrm>
          <a:custGeom xmlns:a="http://schemas.openxmlformats.org/drawingml/2006/main">
            <a:pathLst>
              <a:path w="2286000" h="847725">
                <a:moveTo>
                  <a:pt x="0" y="0"/>
                </a:moveTo>
                <a:lnTo>
                  <a:pt x="2286000" y="0"/>
                </a:lnTo>
                <a:lnTo>
                  <a:pt x="228600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23EF5-4AC4-49F4-A61C-53D547D0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260032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8F05B-EE16-418A-9E8F-37B49AE7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1475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731F5-481C-40C4-8A8A-1F855F8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513" y="46863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A785D-F288-49E3-9E44-9FFAFBC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51A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82333-0F6F-4834-9159-1BE5380B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46863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51A6"/>
          </a:solidFill>
          <a:ln xmlns:a="http://schemas.openxmlformats.org/drawingml/2006/main" w="2858">
            <a:solidFill>
              <a:srgbClr val="7251A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A250C-0298-4DA3-B681-D6417FB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95575"/>
            <a:ext cx="1571625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484EF-ABA7-4FEC-BDEC-4D17E1BC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43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MRI 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25568-EF6F-4BD5-93CB-0A381665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438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128 x 128 x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66A5F-8E13-4BF9-9846-5C45285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95575"/>
            <a:ext cx="219075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C0E41-7543-400C-B2DA-2EF687EC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62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Shared encoder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4932A-8006-4BDE-B820-2D57C45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86100"/>
            <a:ext cx="2057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4 feature scales</a:t>
            </a:r>
          </a:p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16 / 32 / 64 / 128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76642-3146-40B2-8C89-12EBA38F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95575"/>
            <a:ext cx="2333625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B2D16-70D9-42EB-8ABC-AA04A31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62250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Guided decoder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ACEA8-A999-474F-AC68-DE54429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86100"/>
            <a:ext cx="2200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3 gated skips</a:t>
            </a:r>
          </a:p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F: 128 x 128 x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416BE-717C-4D65-8E06-F0C6604D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95575"/>
            <a:ext cx="2905125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AD691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0CB3F-444A-4EB8-A0F8-67D5ACA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622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Boundary refinement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7971A-D1AF-4A81-938D-F13EF1B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2771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Mask + boundary heads</a:t>
            </a:r>
          </a:p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Uncertainty-weighted residual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7A4B1-51ED-4569-8ECE-D954C80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90650"/>
            <a:ext cx="26670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DB0CB-7FAE-482A-BF21-CA21102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4573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Coarse tumor map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8899E2-A9A2-496F-9D5A-93CDD4F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81175"/>
            <a:ext cx="2533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 x 1 convolution + sigmoid</a:t>
            </a:r>
          </a:p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16 x 16 x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35E48-83EE-4160-BA18-F961C24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81550"/>
            <a:ext cx="2381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B60C4-A846-498B-A72A-C58AFAC4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482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Tumor-type head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DD205D-DA4E-4940-84C2-EF34A7A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Global pool + linear</a:t>
            </a:r>
          </a:p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3 class logits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0CF276-BBDF-4D32-BEF0-B4C4923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81550"/>
            <a:ext cx="2905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15240">
            <a:solidFill>
              <a:srgbClr val="7251A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4B8913-E1D9-40F9-9BD9-EF8DDBE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48225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Final tumor mask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131E89-EDC2-4C5A-8732-EF7CFB43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72075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sigmoid(z + u * delta_z)</a:t>
            </a:r>
          </a:p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Threshold = 0.5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92A95E-316D-4BC9-8AC0-897F0FA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4573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rPr>
              <a:t>Bottleneck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282E30-B4CB-4C78-AD74-9090DF0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241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rPr>
              <a:t>Resized 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584459-CF45-472F-B5A0-603764D8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954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rPr>
              <a:t>R for refinement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1E06E9-294E-4E09-941D-723B1EC2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866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6E96D9-315D-4E9E-AAF2-96E8F7C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AB6CE-1589-4AA4-AFA5-3B2AF14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76700"/>
            <a:ext cx="350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rPr>
              <a:t>Gate: S' = S * (0.5 + R)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12DEA3-39AB-4622-836F-A3B4AA5A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86275"/>
            <a:ext cx="350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25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251A6"/>
                </a:solidFill>
                <a:latin typeface="Helvetica Neue"/>
                <a:ea typeface="Helvetica Neue"/>
                <a:cs typeface="Helvetica Neue"/>
              </a:rPr>
              <a:t>Uncertainty: u = 4p(1-p)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D3B11A-8439-4CD8-9982-168D90DF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MRI intensities are the only model input. Ground-truth masks supervise training losses only.</a:t>
            </a:r>
          </a:p>
        </p:txBody>
      </p:sp>
    </p:spTree>
    <p:extLst>
      <p:ext uri="{BB962C8B-B14F-4D97-AF65-F5344CB8AC3E}">
        <p14:creationId xmlns:p14="http://schemas.microsoft.com/office/powerpoint/2010/main" val="285017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D8CA3B-E48B-436F-8B33-E793C7E4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1143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Backbone and soft ROI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EE6D9-F292-4FE4-B27E-21B8C876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47725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Tensor dimensions use height x width x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7F057-E2C6-4DDC-835C-7A732BB6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03BA0-0F21-43E1-92DD-73816971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2476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AF7BC-B0F1-4357-BDBA-9DF57E1A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8852E-50B2-44FE-91A6-89FA88E0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3619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B8F46-DDD7-463E-8521-984EA69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DC0D9-6406-4534-A2BB-FA432DFE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4762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C755B-B39B-460F-81DE-B22EF100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7048500" cy="847725"/>
          </a:xfrm>
          <a:custGeom xmlns:a="http://schemas.openxmlformats.org/drawingml/2006/main">
            <a:pathLst>
              <a:path w="7048500" h="847725">
                <a:moveTo>
                  <a:pt x="0" y="847725"/>
                </a:moveTo>
                <a:lnTo>
                  <a:pt x="7048500" y="847725"/>
                </a:lnTo>
                <a:lnTo>
                  <a:pt x="704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A5F08-BB9C-4B59-87CB-C2008335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4381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015D4-FB04-45FC-8598-D7A9D87B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A9FB5-F742-4B72-84AC-27C1CCD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238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216CD-3539-4995-85E5-D76BCE9C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44B05-7E38-4583-989B-ED6BEC0E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2095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7924A-36C8-4B50-8022-868642E7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2143125" cy="9525"/>
          </a:xfrm>
          <a:custGeom xmlns:a="http://schemas.openxmlformats.org/drawingml/2006/main">
            <a:pathLst>
              <a:path w="2143125" h="952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85A7B-4DA4-43B2-BF18-388AAFA2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92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16393-AB6D-4426-9CE9-1FEAC132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54832-B514-42BE-BF51-92AE0B27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92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8C9B2-6045-4DCB-86C8-C4585AE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2143125" cy="9525"/>
          </a:xfrm>
          <a:custGeom xmlns:a="http://schemas.openxmlformats.org/drawingml/2006/main">
            <a:pathLst>
              <a:path w="2143125" h="952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EDB7F-9744-4917-84B7-A918B2FC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622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C95F0-C5B8-4741-B76F-658DD6F2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EDBC8-20BD-4799-AEAD-BA463D83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22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AAE76-6823-4797-B250-EF4FAA8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2143125" cy="9525"/>
          </a:xfrm>
          <a:custGeom xmlns:a="http://schemas.openxmlformats.org/drawingml/2006/main">
            <a:pathLst>
              <a:path w="2143125" h="952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DC98D-92A2-44B1-B281-5B56A28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52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497C1-C293-4B41-B4D1-EDD3890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48125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D1AA7-0E55-4961-82F0-147EF586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52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9BB80-A7E4-4F87-B9F5-5FC93A05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47775"/>
            <a:ext cx="1857375" cy="4800600"/>
          </a:xfrm>
          <a:custGeom xmlns:a="http://schemas.openxmlformats.org/drawingml/2006/main">
            <a:pathLst>
              <a:path w="1857375" h="4800600">
                <a:moveTo>
                  <a:pt x="0" y="4705350"/>
                </a:moveTo>
                <a:lnTo>
                  <a:pt x="0" y="4800600"/>
                </a:lnTo>
                <a:lnTo>
                  <a:pt x="1857375" y="4800600"/>
                </a:lnTo>
                <a:lnTo>
                  <a:pt x="18573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88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AF170-2910-4FA3-86CA-0F147DA4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4777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61F202-713A-482E-9528-19FC113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1333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B058B-A7BB-498C-9298-59FAD8F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90775"/>
            <a:ext cx="1857375" cy="180975"/>
          </a:xfrm>
          <a:custGeom xmlns:a="http://schemas.openxmlformats.org/drawingml/2006/main">
            <a:pathLst>
              <a:path w="1857375" h="180975">
                <a:moveTo>
                  <a:pt x="1857375" y="0"/>
                </a:moveTo>
                <a:lnTo>
                  <a:pt x="0" y="0"/>
                </a:ln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F604F-EC1B-45EC-AD5B-E0D9C61D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2476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7908F8-C3F8-4CCE-A1FD-4BD5160B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33775"/>
            <a:ext cx="1857375" cy="180975"/>
          </a:xfrm>
          <a:custGeom xmlns:a="http://schemas.openxmlformats.org/drawingml/2006/main">
            <a:pathLst>
              <a:path w="1857375" h="180975">
                <a:moveTo>
                  <a:pt x="1857375" y="0"/>
                </a:moveTo>
                <a:lnTo>
                  <a:pt x="0" y="0"/>
                </a:ln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03E4F-4486-48DD-B9D5-F9B7490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36195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64A39C-9C0A-4ABF-B094-9D2D7976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1905000" cy="9525"/>
          </a:xfrm>
          <a:custGeom xmlns:a="http://schemas.openxmlformats.org/drawingml/2006/main"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62898-6A46-4482-A566-DD730C7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67338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AB7935-51EE-4309-9011-8938B571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8982D6-06BF-41C4-9AFD-66CECA88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95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Encoder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28B3D-6DB3-4B15-B25E-65506832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192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128 x 128 x 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F6992F-BFCC-4CDA-A907-8574C56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9CC00-04BE-4726-89E3-719DDCC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38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Encoder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47F7CD-7F22-4BC2-8510-9AFB3FC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622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64 x 64 x 32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BAECAE-7E02-4575-B83D-6915E0B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EE597D-DF8A-4BF1-AF57-4997742A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81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Encoder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403EB0-009D-417B-B964-4CB703D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052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32 x 32 x 64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965E6A-B62A-4117-9EFA-C8FDAC1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FFF215-4BF0-41A1-B571-F6AB5D0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924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Bottleneck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0C8B9E-CD6A-40B4-B12C-4CC8097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48275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16 x 16 x 128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0065F2-A974-4F90-88F1-EEF825BF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2875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27449B-9798-4F32-B6C3-18C7A1D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954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Soft ROI gate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DD5D2C-0A8C-4223-B986-161A659E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192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S' = S * (0.5 + R)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E44C7A-9231-4FCB-9220-39F1DB7A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782C25-A21C-4CA5-9980-2CDC58E4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384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Soft ROI gate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1FDF7F-E8D3-4847-BF83-8E9F6A44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622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S' = S * (0.5 + R)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D1DC16-B7D1-4518-BA4A-7EAD814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3B44E9-5CF8-47F6-9771-28257EBF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814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Soft ROI 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A5B56C-1F2C-4C50-8B9A-D910DBC5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052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S' = S * (0.5 + R)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31A304-7801-4ABA-B406-F1B5E7E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EBCCB-E7FB-43BB-B5CE-0A31B5D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495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Decoder 1 / 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16EED6-459D-4C2F-A3FB-236558E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192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128 x 128 x 16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6907D0-689F-4BF0-A3B0-144FBB62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F82FF8-6A62-40BE-AD99-90070DF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38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Decoder 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C4F83E-69D9-4CFD-80A0-A37B8F9B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622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64 x 64 x 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61BD8A-88ED-43E9-B5AD-39A92F0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AE5A2B-CDE7-4445-B8BE-24CC9B1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Decoder 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EDFF7E-1904-4CDD-8102-E70292AF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052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32 x 32 x 64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3809AE-7614-4FAE-87DE-99A9C234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AEF729-3AAA-4D25-8C22-28C29D4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530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Coarse ROI head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849D2B-DA90-4A27-AB08-9F67994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769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R: 16 x 16 x 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CC0170-8134-410E-AED0-182C37AB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50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8879"/>
                </a:solidFill>
                <a:latin typeface="Helvetica Neue"/>
                <a:ea typeface="Helvetica Neue"/>
                <a:cs typeface="Helvetica Neue"/>
              </a:rPr>
              <a:t>Resize R at each scale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E5CBE4-55E3-41D5-8FF2-EE1CF9CA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431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2 x 2</a:t>
            </a:r>
          </a:p>
          <a:p xmlns:a="http://schemas.openxmlformats.org/drawingml/2006/main">
            <a:pPr algn="l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max pool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4650EC-6248-4564-A887-FD78A812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43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Decoder step: bilinear upsample, concatenate the gated skip, then apply a double convolution.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D48427-5846-4B9F-A4EA-4D4849B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Each block: [Conv 3 x 3 + GroupNorm + SiLU] x 2. Final features F feed the refinement heads.</a:t>
            </a:r>
          </a:p>
        </p:txBody>
      </p:sp>
    </p:spTree>
    <p:extLst>
      <p:ext uri="{BB962C8B-B14F-4D97-AF65-F5344CB8AC3E}">
        <p14:creationId xmlns:p14="http://schemas.microsoft.com/office/powerpoint/2010/main" val="1151504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48F61D-329E-4D73-B6F9-C5165BF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1143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Boundary-guided refinement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CE48E-19FA-4C4B-96FC-9E69A99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47725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All maps below have 128 x 128 spatial resolution after resizing 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16123-551D-4AB4-9D37-777847F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DD68D-992A-491C-9AE2-39E796C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907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300D5-B993-4EB1-9577-7DFCFE7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666750" cy="1809750"/>
          </a:xfrm>
          <a:custGeom xmlns:a="http://schemas.openxmlformats.org/drawingml/2006/main">
            <a:pathLst>
              <a:path w="666750" h="1809750">
                <a:moveTo>
                  <a:pt x="0" y="0"/>
                </a:moveTo>
                <a:lnTo>
                  <a:pt x="295275" y="0"/>
                </a:lnTo>
                <a:lnTo>
                  <a:pt x="295275" y="1809750"/>
                </a:lnTo>
                <a:lnTo>
                  <a:pt x="66675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7FE9D-9ECD-42A5-9EA7-98251E67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0051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062C8-A45E-48B1-9D7E-7F7D4D3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19D5D-F358-4F8D-9FC3-EEB3875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907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0CFA0-F7D1-410A-B631-5F066CF7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7DECA-C462-4911-81DF-3882761A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9076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803F1-0F3B-4060-907D-12A541B7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19375"/>
            <a:ext cx="1381125" cy="3476625"/>
          </a:xfrm>
          <a:custGeom xmlns:a="http://schemas.openxmlformats.org/drawingml/2006/main">
            <a:pathLst>
              <a:path w="1381125" h="3476625">
                <a:moveTo>
                  <a:pt x="0" y="0"/>
                </a:moveTo>
                <a:lnTo>
                  <a:pt x="1381125" y="0"/>
                </a:lnTo>
                <a:lnTo>
                  <a:pt x="1381125" y="3476625"/>
                </a:lnTo>
                <a:lnTo>
                  <a:pt x="1000125" y="3476625"/>
                </a:lnTo>
                <a:lnTo>
                  <a:pt x="1000125" y="3333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51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2FDB9-3CEA-4CE2-BFA2-A6A848D6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388" y="595312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7251A6"/>
          </a:solidFill>
          <a:ln xmlns:a="http://schemas.openxmlformats.org/drawingml/2006/main" w="2858">
            <a:solidFill>
              <a:srgbClr val="7251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3AFF5-D60E-4471-8BE0-D9FB7018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43375"/>
            <a:ext cx="2190750" cy="9525"/>
          </a:xfrm>
          <a:custGeom xmlns:a="http://schemas.openxmlformats.org/drawingml/2006/main"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D691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D3BF3-9376-4955-9ADC-D10C156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00513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AD691D"/>
          </a:solidFill>
          <a:ln xmlns:a="http://schemas.openxmlformats.org/drawingml/2006/main" w="2858">
            <a:solidFill>
              <a:srgbClr val="AD691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3E548-E97A-4F8C-AE15-843BDB53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95625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51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3E4C0-F51A-4B5F-9729-A00ACFBA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357187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51A6"/>
          </a:solidFill>
          <a:ln xmlns:a="http://schemas.openxmlformats.org/drawingml/2006/main" w="2858">
            <a:solidFill>
              <a:srgbClr val="7251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44098-BEBC-4EBA-9DFF-6BDAA3DE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857750"/>
            <a:ext cx="3638550" cy="381000"/>
          </a:xfrm>
          <a:custGeom xmlns:a="http://schemas.openxmlformats.org/drawingml/2006/main">
            <a:pathLst>
              <a:path w="3638550" h="381000">
                <a:moveTo>
                  <a:pt x="0" y="381000"/>
                </a:moveTo>
                <a:lnTo>
                  <a:pt x="0" y="95250"/>
                </a:lnTo>
                <a:lnTo>
                  <a:pt x="3638550" y="95250"/>
                </a:lnTo>
                <a:lnTo>
                  <a:pt x="3638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87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71701-3DFE-4CAD-B9E3-64354328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485775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008879"/>
          </a:solidFill>
          <a:ln xmlns:a="http://schemas.openxmlformats.org/drawingml/2006/main" w="2858">
            <a:solidFill>
              <a:srgbClr val="00887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C63EE-9886-41ED-800F-0CE8BCDA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2809875" cy="381000"/>
          </a:xfrm>
          <a:custGeom xmlns:a="http://schemas.openxmlformats.org/drawingml/2006/main">
            <a:pathLst>
              <a:path w="2809875" h="381000">
                <a:moveTo>
                  <a:pt x="0" y="381000"/>
                </a:moveTo>
                <a:lnTo>
                  <a:pt x="0" y="238125"/>
                </a:lnTo>
                <a:lnTo>
                  <a:pt x="2809875" y="238125"/>
                </a:lnTo>
                <a:lnTo>
                  <a:pt x="2809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0C4F5-222D-445B-BC81-AAF831CE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485775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3BB23-BBFE-49B7-B3BB-E53A87CC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76375"/>
            <a:ext cx="7143750" cy="3714750"/>
          </a:xfrm>
          <a:custGeom xmlns:a="http://schemas.openxmlformats.org/drawingml/2006/main">
            <a:pathLst>
              <a:path w="7143750" h="3714750">
                <a:moveTo>
                  <a:pt x="0" y="428625"/>
                </a:moveTo>
                <a:lnTo>
                  <a:pt x="0" y="0"/>
                </a:lnTo>
                <a:lnTo>
                  <a:pt x="7143750" y="0"/>
                </a:lnTo>
                <a:lnTo>
                  <a:pt x="7143750" y="3714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869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D6632-1115-4FD1-A518-11F9608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888" y="509587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8692"/>
          </a:solidFill>
          <a:ln xmlns:a="http://schemas.openxmlformats.org/drawingml/2006/main" w="2858">
            <a:solidFill>
              <a:srgbClr val="72869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EF2C8-9137-4784-B977-0DA3B23D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362450"/>
            <a:ext cx="666750" cy="828675"/>
          </a:xfrm>
          <a:custGeom xmlns:a="http://schemas.openxmlformats.org/drawingml/2006/main">
            <a:pathLst>
              <a:path w="666750" h="828675">
                <a:moveTo>
                  <a:pt x="0" y="0"/>
                </a:moveTo>
                <a:lnTo>
                  <a:pt x="666750" y="0"/>
                </a:lnTo>
                <a:lnTo>
                  <a:pt x="66675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251A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243CF-BB4E-4817-8EF4-ED12385C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013" y="509587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51A6"/>
          </a:solidFill>
          <a:ln xmlns:a="http://schemas.openxmlformats.org/drawingml/2006/main" w="2858">
            <a:solidFill>
              <a:srgbClr val="7251A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9567F-0F57-4249-ADD7-4BF8CF6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6B44E-BF6B-4BE3-B9C6-41BFFDF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71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Features 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31CB9-35A8-40E1-B29F-CA3DA8E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955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128 x 128 x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1020B-9FCF-45DA-8D3B-4DC0411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C49BE-3F0B-4286-B248-8E955B4B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716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Mask head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3E951-7468-4101-8570-43923EB4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95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Conv 1 x 1</a:t>
            </a:r>
          </a:p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Logit 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D8949-ACFA-4CA8-AA15-3A5D485F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31D03-7DCF-42DE-8A07-B4646A37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7167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Sigmoid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23301-14D4-4894-9205-FA56D6D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95525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p = sigmoid(z)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C9746-7E81-4147-81A1-8F4D7C5D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2286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15240">
            <a:solidFill>
              <a:srgbClr val="7251A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15BD21-99B3-4D56-9275-A33AC093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71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Uncertainty proxy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3C3370-B288-4F81-8E6F-6F7E4897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152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u = 4p(1-p)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3ED93-6524-4992-997A-F2423169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67125"/>
            <a:ext cx="2190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AD691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FEA290-BB23-4FBF-84C9-213413CB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Boundary head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4104C7-12BA-4EDE-B331-A563795E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2057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Conv 3 x 3: 16 to 8</a:t>
            </a:r>
          </a:p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SiLU + Conv 1 x 1</a:t>
            </a:r>
          </a:p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Sigmoid: boundary 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2D17B0-0FBB-4064-8850-10CBD2AE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66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AD691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8A536-8DA4-4F37-BB35-DF8914FC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338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Residual head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AF9A87-F740-476D-8A3A-CC752CBA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2533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Inputs: [F, R, b, u]</a:t>
            </a:r>
          </a:p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Conv 3 x 3: 19 to 16</a:t>
            </a:r>
          </a:p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SiLU + Conv 1 x 1 to 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F8BFF6-9B37-4355-A5F9-BA20947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38750"/>
            <a:ext cx="20478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0F4EF"/>
          </a:solidFill>
          <a:ln xmlns:a="http://schemas.openxmlformats.org/drawingml/2006/main" w="15240">
            <a:solidFill>
              <a:srgbClr val="00887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B665A-C3DA-4228-8C24-D6575B6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05425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R (same ROI map)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AA23C6-C432-4809-84DD-598F3A19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292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Bilinearly resized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45A6E-B4EC-4909-8E27-6ED68D6B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2000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5240">
            <a:solidFill>
              <a:srgbClr val="72869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E546C0-3668-4FC6-9F63-E6D72A20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3054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F (same tensor)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5DA891-B168-4454-BDBF-7F8FFBD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292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16 channels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8FBB18-4E0F-48C9-95A3-7F1A8552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91125"/>
            <a:ext cx="2428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15240">
            <a:solidFill>
              <a:srgbClr val="7251A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E9E19F-0A80-49EC-8620-C43F995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257800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Final fusion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73DAA2-D88D-4CCF-B36B-2CAC2FE5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5816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z_final = z + u * delta_z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171D73-DA22-49EA-880A-859E432A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D6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D691D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C44D79-AA7D-4840-B994-C254481C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1715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z bypass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DBABBF-6E6D-4C53-9F0F-AE6412B9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38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5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251A6"/>
                </a:solidFill>
                <a:latin typeface="Helvetica Neue"/>
                <a:ea typeface="Helvetica Neue"/>
                <a:cs typeface="Helvetica Neue"/>
              </a:rPr>
              <a:t>delta_z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4484CF-AF33-4618-B6CA-DF22161D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333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25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251A6"/>
                </a:solidFill>
                <a:latin typeface="Helvetica Neue"/>
                <a:ea typeface="Helvetica Neue"/>
                <a:cs typeface="Helvetica Neue"/>
              </a:rPr>
              <a:t>u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6342A1-B63E-40F1-B01E-6380A97C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43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A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A38"/>
                </a:solidFill>
                <a:latin typeface="Helvetica Neue"/>
                <a:ea typeface="Helvetica Neue"/>
                <a:cs typeface="Helvetica Neue"/>
              </a:rPr>
              <a:t>Final mask = sigmoid(z_final) &gt;= 0.5. The residual output layer starts at zero.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62E28D-B3FD-448B-968F-17EE00FF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975"/>
                </a:solidFill>
                <a:latin typeface="Helvetica Neue"/>
                <a:ea typeface="Helvetica Neue"/>
                <a:cs typeface="Helvetica Neue"/>
              </a:rPr>
              <a:t>R and F input boxes are references to the same tensors, not additional prediction branches.</a:t>
            </a:r>
          </a:p>
        </p:txBody>
      </p:sp>
    </p:spTree>
    <p:extLst>
      <p:ext uri="{BB962C8B-B14F-4D97-AF65-F5344CB8AC3E}">
        <p14:creationId xmlns:p14="http://schemas.microsoft.com/office/powerpoint/2010/main" val="111982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2026-09-17T17:20:26.0170000Z</dcterms:created>
  <dcterms:modified xsi:type="dcterms:W3CDTF">2026-09-17T17:20:26.0170000Z</dcterms:modified>
</coreProperties>
</file>